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Olist E-Commerce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DDE8FF"/>
                </a:solidFill>
                <a:latin typeface="Calibri"/>
              </a:rPr>
              <a:t>Análisis exploratorio y modelado predictivo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Proyecto Integrador · Tecnicatura en Ciencia de Datos e Inteligencia Artificial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DDE8FF"/>
                </a:solidFill>
                <a:latin typeface="Calibri"/>
              </a:rPr>
              <a:t>Autora: Natalia  ·  Dataset público de Olist (Kaggle), 2016–2018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2FF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¿Qué es Olist y qué preguntamos?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01647"/>
                </a:solidFill>
                <a:latin typeface="Calibri"/>
              </a:rPr>
              <a:t>Olist es un marketplace brasileño que conecta a miles de comercios con compradores de todo el país y coordina el envío. Analizamos más de 100.000 pedidos (2016–2018).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¿Qué determina la satisfacción del cliente? </a:t>
            </a:r>
            <a:r>
              <a:rPr sz="1900">
                <a:solidFill>
                  <a:srgbClr val="001647"/>
                </a:solidFill>
                <a:latin typeface="Calibri"/>
              </a:rPr>
              <a:t>La calificación que deja al recibir (o no) su pedido.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¿Se puede anticipar? </a:t>
            </a:r>
            <a:r>
              <a:rPr sz="1900">
                <a:solidFill>
                  <a:srgbClr val="001647"/>
                </a:solidFill>
                <a:latin typeface="Calibri"/>
              </a:rPr>
              <a:t>Predecir el riesgo de una mala reseña desde el momento de la compra.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¿Todos los vendedores se comportan igual? </a:t>
            </a:r>
            <a:r>
              <a:rPr sz="1900">
                <a:solidFill>
                  <a:srgbClr val="001647"/>
                </a:solidFill>
                <a:latin typeface="Calibri"/>
              </a:rPr>
              <a:t>Segmentarlos por su perfil logístico y de negocio.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2FF"/>
                </a:solidFill>
                <a:latin typeface="Calibri"/>
              </a:rPr>
              <a:t>METODOLOGÍA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Un pipeline reproducible, de los datos al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4EE4"/>
                </a:solidFill>
              </a:rPr>
              <a:t>•  </a:t>
            </a:r>
            <a:r>
              <a:rPr sz="1800" b="1">
                <a:solidFill>
                  <a:srgbClr val="001647"/>
                </a:solidFill>
                <a:latin typeface="Calibri"/>
              </a:rPr>
              <a:t>Integración: </a:t>
            </a:r>
            <a:r>
              <a:rPr sz="1800">
                <a:solidFill>
                  <a:srgbClr val="001647"/>
                </a:solidFill>
                <a:latin typeface="Calibri"/>
              </a:rPr>
              <a:t>las 9 tablas de Kaggle unidas en un dataset a nivel de ítem de pedido.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4EE4"/>
                </a:solidFill>
              </a:rPr>
              <a:t>•  </a:t>
            </a:r>
            <a:r>
              <a:rPr sz="1800" b="1">
                <a:solidFill>
                  <a:srgbClr val="001647"/>
                </a:solidFill>
                <a:latin typeface="Calibri"/>
              </a:rPr>
              <a:t>Limpieza: </a:t>
            </a:r>
            <a:r>
              <a:rPr sz="1800">
                <a:solidFill>
                  <a:srgbClr val="001647"/>
                </a:solidFill>
                <a:latin typeface="Calibri"/>
              </a:rPr>
              <a:t>duplicados, fechas, nulos y coordenadas fuera de rango.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4EE4"/>
                </a:solidFill>
              </a:rPr>
              <a:t>•  </a:t>
            </a:r>
            <a:r>
              <a:rPr sz="1800" b="1">
                <a:solidFill>
                  <a:srgbClr val="001647"/>
                </a:solidFill>
                <a:latin typeface="Calibri"/>
              </a:rPr>
              <a:t>Ingeniería de variables: </a:t>
            </a:r>
            <a:r>
              <a:rPr sz="1800">
                <a:solidFill>
                  <a:srgbClr val="001647"/>
                </a:solidFill>
                <a:latin typeface="Calibri"/>
              </a:rPr>
              <a:t>tiempos, demora, distancia real (Haversine), flete/precio, volumen.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4EE4"/>
                </a:solidFill>
              </a:rPr>
              <a:t>•  </a:t>
            </a:r>
            <a:r>
              <a:rPr sz="1800" b="1">
                <a:solidFill>
                  <a:srgbClr val="001647"/>
                </a:solidFill>
                <a:latin typeface="Calibri"/>
              </a:rPr>
              <a:t>Análisis exploratorio: </a:t>
            </a:r>
            <a:r>
              <a:rPr sz="1800">
                <a:solidFill>
                  <a:srgbClr val="001647"/>
                </a:solidFill>
                <a:latin typeface="Calibri"/>
              </a:rPr>
              <a:t>estadísticas, gráficos, mapas, NLP y contraste de hipótesis.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4EE4"/>
                </a:solidFill>
              </a:rPr>
              <a:t>•  </a:t>
            </a:r>
            <a:r>
              <a:rPr sz="1800" b="1">
                <a:solidFill>
                  <a:srgbClr val="001647"/>
                </a:solidFill>
                <a:latin typeface="Calibri"/>
              </a:rPr>
              <a:t>Modelado: </a:t>
            </a:r>
            <a:r>
              <a:rPr sz="1800">
                <a:solidFill>
                  <a:srgbClr val="001647"/>
                </a:solidFill>
                <a:latin typeface="Calibri"/>
              </a:rPr>
              <a:t>clasificación de la reseña (LightGBM) + segmentación de vendedores (K-Means).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4EE4"/>
                </a:solidFill>
              </a:rPr>
              <a:t>•  </a:t>
            </a:r>
            <a:r>
              <a:rPr sz="1800" b="1">
                <a:solidFill>
                  <a:srgbClr val="001647"/>
                </a:solidFill>
                <a:latin typeface="Calibri"/>
              </a:rPr>
              <a:t>Dashboard: </a:t>
            </a:r>
            <a:r>
              <a:rPr sz="1800">
                <a:solidFill>
                  <a:srgbClr val="001647"/>
                </a:solidFill>
                <a:latin typeface="Calibri"/>
              </a:rPr>
              <a:t>app en Streamlit con el análisis y predicción interactiva de compras.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2FF"/>
                </a:solidFill>
                <a:latin typeface="Calibri"/>
              </a:rPr>
              <a:t>ANÁLISIS EXPLORATORIO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La logística 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La logística pesa más que el precio: </a:t>
            </a:r>
            <a:r>
              <a:rPr sz="1900">
                <a:solidFill>
                  <a:srgbClr val="001647"/>
                </a:solidFill>
                <a:latin typeface="Calibri"/>
              </a:rPr>
              <a:t>cumplir el plazo prometido es lo más ligado a la reseña.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Casi 1 de cada 10 pedidos entregados llega tarde</a:t>
            </a:r>
            <a:r>
              <a:rPr sz="1900">
                <a:solidFill>
                  <a:srgbClr val="001647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La geografía explica la demora: </a:t>
            </a:r>
            <a:r>
              <a:rPr sz="1900">
                <a:solidFill>
                  <a:srgbClr val="001647"/>
                </a:solidFill>
                <a:latin typeface="Calibri"/>
              </a:rPr>
              <a:t>fuera del Sudeste se paga más flete y se espera más.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Los clientes lo dicen con palabras: </a:t>
            </a:r>
            <a:r>
              <a:rPr sz="1900">
                <a:solidFill>
                  <a:srgbClr val="001647"/>
                </a:solidFill>
                <a:latin typeface="Calibri"/>
              </a:rPr>
              <a:t>las reseñas negativas hablan de plazo y entrega.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846320"/>
            <a:ext cx="3515258" cy="14630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0A4EE4"/>
                </a:solidFill>
              </a:rPr>
              <a:t>~10%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pedidos entregados tarde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4846320"/>
            <a:ext cx="3515258" cy="14630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0A4EE4"/>
                </a:solidFill>
              </a:rPr>
              <a:t>Sudeste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región mejor servida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4846320"/>
            <a:ext cx="3515258" cy="14630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0A4EE4"/>
                </a:solidFill>
              </a:rPr>
              <a:t>Distancia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driver medible del tiempo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2FF"/>
                </a:solidFill>
                <a:latin typeface="Calibri"/>
              </a:rPr>
              <a:t>CONTRASTE DE 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De la intuición al test estadístico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743200"/>
                <a:gridCol w="2286000"/>
              </a:tblGrid>
              <a:tr h="658368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Hipótesis</a:t>
                      </a:r>
                    </a:p>
                  </a:txBody>
                  <a:tcPr>
                    <a:solidFill>
                      <a:srgbClr val="0A4E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Prueba</a:t>
                      </a:r>
                    </a:p>
                  </a:txBody>
                  <a:tcPr>
                    <a:solidFill>
                      <a:srgbClr val="0A4E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Veredicto</a:t>
                      </a:r>
                    </a:p>
                  </a:txBody>
                  <a:tcPr>
                    <a:solidFill>
                      <a:srgbClr val="0A4E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H1 — La demora reduce la satisfacción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Mann-Whitney U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A4EE4"/>
                          </a:solidFill>
                        </a:rPr>
                        <a:t>Confirmada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H2 — Las reseñas negativas hablan de demoras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Evidencia NLP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A4EE4"/>
                          </a:solidFill>
                        </a:rPr>
                        <a:t>Evidenciada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H3 — Fuera del Sudeste: más días y más flete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Mann-Whitney U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A4EE4"/>
                          </a:solidFill>
                        </a:rPr>
                        <a:t>Confirmada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Más distancia ⇒ más días de entrega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Spearman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A4EE4"/>
                          </a:solidFill>
                        </a:rPr>
                        <a:t>Confirmada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2FF"/>
                </a:solidFill>
                <a:latin typeface="Calibri"/>
              </a:rPr>
              <a:t>MODELO 1 · CLASIFICACIÓN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Anticipar la reseña al momento de la compra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01647"/>
                </a:solidFill>
                <a:latin typeface="Calibri"/>
              </a:rPr>
              <a:t>LightGBM binario (positiva vs. negativa) usando SOLO datos conocidos al comprar: producto, precio, flete, distancia, temporada e historial del vendedor. Sin fuga de información.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515258" cy="14630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0A4EE4"/>
                </a:solidFill>
              </a:rPr>
              <a:t>0,71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AUC (0,5 = azar)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2651760"/>
            <a:ext cx="3515258" cy="14630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0A4EE4"/>
                </a:solidFill>
              </a:rPr>
              <a:t>0,62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F1 macro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2651760"/>
            <a:ext cx="3515258" cy="1463040"/>
          </a:xfrm>
          <a:prstGeom prst="rect">
            <a:avLst/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0A4EE4"/>
                </a:solidFill>
              </a:rPr>
              <a:t>0,72</a:t>
            </a:r>
          </a:p>
          <a:p>
            <a:pPr algn="ctr"/>
            <a:r>
              <a:rPr sz="1300">
                <a:solidFill>
                  <a:srgbClr val="52514E"/>
                </a:solidFill>
              </a:rPr>
              <a:t>aciertos totales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A4EE4"/>
                </a:solidFill>
              </a:rPr>
              <a:t>•  </a:t>
            </a:r>
            <a:r>
              <a:rPr sz="1800" b="1">
                <a:solidFill>
                  <a:srgbClr val="001647"/>
                </a:solidFill>
                <a:latin typeface="Calibri"/>
              </a:rPr>
              <a:t>Variable más influyente: </a:t>
            </a:r>
            <a:r>
              <a:rPr sz="1800">
                <a:solidFill>
                  <a:srgbClr val="001647"/>
                </a:solidFill>
                <a:latin typeface="Calibri"/>
              </a:rPr>
              <a:t>la reseña histórica promedio del vendedor.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A4EE4"/>
                </a:solidFill>
              </a:rPr>
              <a:t>•  </a:t>
            </a:r>
            <a:r>
              <a:rPr sz="1800" b="1">
                <a:solidFill>
                  <a:srgbClr val="001647"/>
                </a:solidFill>
                <a:latin typeface="Calibri"/>
              </a:rPr>
              <a:t>Uso de negocio: </a:t>
            </a:r>
            <a:r>
              <a:rPr sz="1800">
                <a:solidFill>
                  <a:srgbClr val="001647"/>
                </a:solidFill>
                <a:latin typeface="Calibri"/>
              </a:rPr>
              <a:t>alerta temprana para vigilar los pedidos de mayor riesgo antes de que lleguen.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2FF"/>
                </a:solidFill>
                <a:latin typeface="Calibri"/>
              </a:rPr>
              <a:t>MODELO 2 · SEGMENTACIÓN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Tres perfiles de vendedores (K-Means)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103120"/>
                <a:gridCol w="5943600"/>
              </a:tblGrid>
              <a:tr h="6858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Segmento</a:t>
                      </a:r>
                    </a:p>
                  </a:txBody>
                  <a:tcPr>
                    <a:solidFill>
                      <a:srgbClr val="0A4E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Vendedores</a:t>
                      </a:r>
                    </a:p>
                  </a:txBody>
                  <a:tcPr>
                    <a:solidFill>
                      <a:srgbClr val="0A4E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Perfil</a:t>
                      </a:r>
                    </a:p>
                  </a:txBody>
                  <a:tcPr>
                    <a:solidFill>
                      <a:srgbClr val="0A4EE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1647"/>
                          </a:solidFill>
                        </a:rPr>
                        <a:t>Rápidos y chicos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~1.700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Entrega veloz, sin demora, buena reseña</a:t>
                      </a:r>
                    </a:p>
                  </a:txBody>
                  <a:tcPr>
                    <a:solidFill>
                      <a:srgbClr val="F2F5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1647"/>
                          </a:solidFill>
                        </a:rPr>
                        <a:t>Alto volumen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~800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Muchos pedidos, desempeño sólido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1647"/>
                          </a:solidFill>
                        </a:rPr>
                        <a:t>Rezagados</a:t>
                      </a:r>
                    </a:p>
                  </a:txBody>
                  <a:tcPr>
                    <a:solidFill>
                      <a:srgbClr val="FF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~460</a:t>
                      </a:r>
                    </a:p>
                  </a:txBody>
                  <a:tcPr>
                    <a:solidFill>
                      <a:srgbClr val="FFE8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01647"/>
                          </a:solidFill>
                        </a:rPr>
                        <a:t>~20 días, 20% demora, reseña ~3,5</a:t>
                      </a:r>
                    </a:p>
                  </a:txBody>
                  <a:tcPr>
                    <a:solidFill>
                      <a:srgbClr val="FFE8E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El segmento 'rezagados' es la lista de contactos prioritaria: pocos vendedores, pero concentran una parte desproporcionada del riesgo de mala experiencia.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FD2FF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Qué hacer con 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Alerta temprana de satisfacción: </a:t>
            </a:r>
            <a:r>
              <a:rPr sz="1900">
                <a:solidFill>
                  <a:srgbClr val="001647"/>
                </a:solidFill>
                <a:latin typeface="Calibri"/>
              </a:rPr>
              <a:t>contactar proactivamente los pedidos de mayor riesgo.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Programa para vendedores rezagados: </a:t>
            </a:r>
            <a:r>
              <a:rPr sz="1900">
                <a:solidFill>
                  <a:srgbClr val="001647"/>
                </a:solidFill>
                <a:latin typeface="Calibri"/>
              </a:rPr>
              <a:t>acompañamiento logístico al grupo que concentra el riesgo.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Foco logístico por región: </a:t>
            </a:r>
            <a:r>
              <a:rPr sz="1900">
                <a:solidFill>
                  <a:srgbClr val="001647"/>
                </a:solidFill>
                <a:latin typeface="Calibri"/>
              </a:rPr>
              <a:t>priorizar tiempos y costos fuera del eje Sudeste.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A4EE4"/>
                </a:solidFill>
              </a:rPr>
              <a:t>•  </a:t>
            </a:r>
            <a:r>
              <a:rPr sz="1900" b="1">
                <a:solidFill>
                  <a:srgbClr val="001647"/>
                </a:solidFill>
                <a:latin typeface="Calibri"/>
              </a:rPr>
              <a:t>Crecimiento por categoría: </a:t>
            </a:r>
            <a:r>
              <a:rPr sz="1900">
                <a:solidFill>
                  <a:srgbClr val="001647"/>
                </a:solidFill>
                <a:latin typeface="Calibri"/>
              </a:rPr>
              <a:t>volumen y precio son palancas distintas; negociar con las líderes.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Gracias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DDE8FF"/>
                </a:solidFill>
                <a:latin typeface="Calibri"/>
              </a:rPr>
              <a:t>Análisis reproducible (notebooks 00 → 11) + dashboard interactivo en Streamlit.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