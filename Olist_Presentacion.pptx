
<file path=[Content_Types].xml><?xml version="1.0" encoding="utf-8"?>
<Types xmlns="http://schemas.openxmlformats.org/package/2006/content-types"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9.png"/><Relationship Id="rId3" Type="http://schemas.openxmlformats.org/officeDocument/2006/relationships/image" Target="../media/merged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C39BA92C-1BB7-4C8D-B247-7FD45C761559}"/>
              </a:ext>
            </a:extLst>
          </p:cNvPr>
          <p:cNvSpPr/>
          <p:nvPr/>
        </p:nvSpPr>
        <p:spPr>
          <a:xfrm>
            <a:off x="8191500" y="381000"/>
            <a:ext cx="3619500" cy="3619500"/>
          </a:xfrm>
          <a:prstGeom prst="ellipse">
            <a:avLst/>
          </a:prstGeom>
          <a:solidFill>
            <a:srgbClr val="0A4EE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307D6B9-19F6-4D7C-82AC-AB597F4B267F}"/>
              </a:ext>
            </a:extLst>
          </p:cNvPr>
          <p:cNvSpPr/>
          <p:nvPr/>
        </p:nvSpPr>
        <p:spPr>
          <a:xfrm>
            <a:off x="10477500" y="4286250"/>
            <a:ext cx="1333500" cy="133350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25D8137-A67F-40BA-B713-5447FB9BD4F5}"/>
              </a:ext>
            </a:extLst>
          </p:cNvPr>
          <p:cNvSpPr/>
          <p:nvPr/>
        </p:nvSpPr>
        <p:spPr>
          <a:xfrm>
            <a:off x="7429500" y="4476750"/>
            <a:ext cx="857250" cy="857250"/>
          </a:xfrm>
          <a:prstGeom prst="ellipse">
            <a:avLst/>
          </a:prstGeom>
          <a:ln w="76200">
            <a:solidFill>
              <a:srgbClr val="0A4EE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8BBB419B-7922-4CF8-BA13-2E6BABCA07E0}"/>
              </a:ext>
            </a:extLst>
          </p:cNvPr>
          <p:cNvSpPr/>
          <p:nvPr/>
        </p:nvSpPr>
        <p:spPr>
          <a:xfrm>
            <a:off x="857250" y="952500"/>
            <a:ext cx="2476500" cy="438150"/>
          </a:xfrm>
          <a:prstGeom prst="roundRect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</a:rPr>
              <a:t>PROYECTO INTEGRADOR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5FBD842-76A5-43E1-890F-25699D128C4F}"/>
              </a:ext>
            </a:extLst>
          </p:cNvPr>
          <p:cNvSpPr txBox="1"/>
          <p:nvPr/>
        </p:nvSpPr>
        <p:spPr>
          <a:xfrm>
            <a:off x="857250" y="1809750"/>
            <a:ext cx="6667500" cy="2381250"/>
          </a:xfrm>
        </p:spPr>
        <p:txBody>
          <a:bodyPr wrap="square" rtlCol="0" lIns="0" tIns="0" rIns="0" bIns="0" anchor="t"/>
          <a:lstStyle/>
          <a:p>
            <a:pPr algn="l"/>
            <a:r>
              <a:rPr sz="6400" b="1">
                <a:solidFill>
                  <a:srgbClr val="FFFFFF"/>
                </a:solidFill>
                <a:latin typeface="Verdana"/>
                <a:ea typeface="Verdana"/>
              </a:rPr>
              <a:t>Olist</a:t>
            </a:r>
          </a:p>
          <a:p>
            <a:pPr algn="l"/>
            <a:r>
              <a:rPr sz="6400" b="1">
                <a:solidFill>
                  <a:srgbClr val="FFB800"/>
                </a:solidFill>
                <a:latin typeface="Verdana"/>
                <a:ea typeface="Verdana"/>
              </a:rPr>
              <a:t>E-Commerce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E2B7EB9-B0BE-4A5D-AB72-82D73C23D60F}"/>
              </a:ext>
            </a:extLst>
          </p:cNvPr>
          <p:cNvSpPr txBox="1"/>
          <p:nvPr/>
        </p:nvSpPr>
        <p:spPr>
          <a:xfrm>
            <a:off x="857250" y="4381500"/>
            <a:ext cx="60960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900">
                <a:solidFill>
                  <a:srgbClr val="C9D8F7"/>
                </a:solidFill>
                <a:latin typeface="Calibri"/>
                <a:ea typeface="Calibri"/>
              </a:rPr>
              <a:t>Análisis exploratorio, modelado predictivo y segmentación del marketplace brasileño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44D60D1-5611-45A9-897B-DD4E8BBBC425}"/>
              </a:ext>
            </a:extLst>
          </p:cNvPr>
          <p:cNvSpPr txBox="1"/>
          <p:nvPr/>
        </p:nvSpPr>
        <p:spPr>
          <a:xfrm>
            <a:off x="8572500" y="1809750"/>
            <a:ext cx="2857500" cy="853440"/>
          </a:xfrm>
        </p:spPr>
        <p:txBody>
          <a:bodyPr wrap="square" rtlCol="0" lIns="0" tIns="0" rIns="0" bIns="0" anchor="t"/>
          <a:lstStyle/>
          <a:p>
            <a:pPr algn="ctr"/>
            <a:r>
              <a:rPr sz="4000" b="1">
                <a:solidFill>
                  <a:srgbClr val="FFFFFF"/>
                </a:solidFill>
                <a:latin typeface="Verdana"/>
                <a:ea typeface="Verdana"/>
              </a:rPr>
              <a:t>100.000</a:t>
            </a:r>
          </a:p>
          <a:p>
            <a:pPr algn="ctr"/>
            <a:r>
              <a:rPr sz="1600">
                <a:solidFill>
                  <a:srgbClr val="DCE7FF"/>
                </a:solidFill>
                <a:latin typeface="Calibri"/>
                <a:ea typeface="Calibri"/>
              </a:rPr>
              <a:t>pedidos reales analizados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8C8AD2-065F-44F2-BE33-A61A92BF9DF6}"/>
              </a:ext>
            </a:extLst>
          </p:cNvPr>
          <p:cNvSpPr txBox="1"/>
          <p:nvPr/>
        </p:nvSpPr>
        <p:spPr>
          <a:xfrm>
            <a:off x="857250" y="5524500"/>
            <a:ext cx="6667500" cy="4762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8FA6CE"/>
                </a:solidFill>
                <a:latin typeface="Calibri"/>
                <a:ea typeface="Calibri"/>
              </a:rPr>
              <a:t>Ikemiya, Facundo  ·  Gold, Nicolás  ·  Nodar, Natalia  ·  Betzabe Mayra, Aldana Sandoval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239469B-CCD6-4D54-B301-EFA81B8967F7}"/>
              </a:ext>
            </a:extLst>
          </p:cNvPr>
          <p:cNvSpPr txBox="1"/>
          <p:nvPr/>
        </p:nvSpPr>
        <p:spPr>
          <a:xfrm>
            <a:off x="857250" y="6096000"/>
            <a:ext cx="666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200" i="1">
                <a:solidFill>
                  <a:srgbClr val="5F76A8"/>
                </a:solidFill>
                <a:latin typeface="Calibri"/>
                <a:ea typeface="Calibri"/>
              </a:rPr>
              <a:t>Tecnicatura Superior en Ciencia de Datos e IA  · 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0BD74AE4-B00C-4AF0-81DA-7FAA549AAB69}"/>
              </a:ext>
            </a:extLst>
          </p:cNvPr>
          <p:cNvSpPr/>
          <p:nvPr/>
        </p:nvSpPr>
        <p:spPr>
          <a:xfrm>
            <a:off x="666750" y="419100"/>
            <a:ext cx="2476500" cy="3619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A4EE4"/>
                </a:solidFill>
                <a:latin typeface="Verdana"/>
                <a:ea typeface="Verdana"/>
              </a:rPr>
              <a:t>01 · CONTEXTO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77E9DEA-97F5-4FBF-92EB-AE4EA5F94FA9}"/>
              </a:ext>
            </a:extLst>
          </p:cNvPr>
          <p:cNvSpPr/>
          <p:nvPr/>
        </p:nvSpPr>
        <p:spPr>
          <a:xfrm>
            <a:off x="11239500" y="552450"/>
            <a:ext cx="133350" cy="13335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AF06460-51F4-443A-BF57-456CD3843E05}"/>
              </a:ext>
            </a:extLst>
          </p:cNvPr>
          <p:cNvSpPr txBox="1"/>
          <p:nvPr/>
        </p:nvSpPr>
        <p:spPr>
          <a:xfrm>
            <a:off x="666750" y="914400"/>
            <a:ext cx="76200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0B1F4B"/>
                </a:solidFill>
                <a:latin typeface="Verdana"/>
                <a:ea typeface="Verdana"/>
              </a:rPr>
              <a:t>¿Qué es Olist?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DD5CCF4-E499-4CA4-9AA2-AE1AE02B69C2}"/>
              </a:ext>
            </a:extLst>
          </p:cNvPr>
          <p:cNvSpPr/>
          <p:nvPr/>
        </p:nvSpPr>
        <p:spPr>
          <a:xfrm>
            <a:off x="666750" y="2000250"/>
            <a:ext cx="2857500" cy="14287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B1F4B"/>
                </a:solidFill>
                <a:latin typeface="Verdana"/>
                <a:ea typeface="Verdana"/>
              </a:rPr>
              <a:t>Vendedor</a:t>
            </a:r>
          </a:p>
          <a:p>
            <a:pPr algn="ctr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miles de pequeños</a:t>
            </a:r>
          </a:p>
          <a:p>
            <a:pPr algn="ctr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y medianos comercios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D6280EDD-E870-4865-9243-3802E93440D4}"/>
              </a:ext>
            </a:extLst>
          </p:cNvPr>
          <p:cNvSpPr/>
          <p:nvPr/>
        </p:nvSpPr>
        <p:spPr>
          <a:xfrm>
            <a:off x="3714750" y="2524125"/>
            <a:ext cx="666750" cy="419100"/>
          </a:xfrm>
          <a:prstGeom prst="rightArrow">
            <a:avLst/>
          </a:prstGeom>
          <a:solidFill>
            <a:srgbClr val="0A4EE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A0469B1-D707-4099-A0CA-0E8F1A5C7804}"/>
              </a:ext>
            </a:extLst>
          </p:cNvPr>
          <p:cNvSpPr/>
          <p:nvPr/>
        </p:nvSpPr>
        <p:spPr>
          <a:xfrm>
            <a:off x="4572000" y="2000250"/>
            <a:ext cx="3048000" cy="1428750"/>
          </a:xfrm>
          <a:prstGeom prst="roundRect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Verdana"/>
                <a:ea typeface="Verdana"/>
              </a:rPr>
              <a:t>Olist</a:t>
            </a:r>
          </a:p>
          <a:p>
            <a:pPr algn="ctr"/>
            <a:r>
              <a:rPr sz="1400">
                <a:solidFill>
                  <a:srgbClr val="DCE7FF"/>
                </a:solidFill>
                <a:latin typeface="Calibri"/>
                <a:ea typeface="Calibri"/>
              </a:rPr>
              <a:t>plataforma integrada</a:t>
            </a:r>
          </a:p>
          <a:p>
            <a:pPr algn="ctr"/>
            <a:r>
              <a:rPr sz="1400">
                <a:solidFill>
                  <a:srgbClr val="DCE7FF"/>
                </a:solidFill>
                <a:latin typeface="Calibri"/>
                <a:ea typeface="Calibri"/>
              </a:rPr>
              <a:t>y logística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7D8B301-8E01-4228-B3D4-9C15AD8940D6}"/>
              </a:ext>
            </a:extLst>
          </p:cNvPr>
          <p:cNvSpPr/>
          <p:nvPr/>
        </p:nvSpPr>
        <p:spPr>
          <a:xfrm>
            <a:off x="7810500" y="2524125"/>
            <a:ext cx="666750" cy="419100"/>
          </a:xfrm>
          <a:prstGeom prst="rightArrow">
            <a:avLst/>
          </a:prstGeom>
          <a:solidFill>
            <a:srgbClr val="0A4EE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13ADCED-AEE1-42F1-A0DD-C4365C855373}"/>
              </a:ext>
            </a:extLst>
          </p:cNvPr>
          <p:cNvSpPr/>
          <p:nvPr/>
        </p:nvSpPr>
        <p:spPr>
          <a:xfrm>
            <a:off x="8667750" y="2000250"/>
            <a:ext cx="2857500" cy="14287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B1F4B"/>
                </a:solidFill>
                <a:latin typeface="Verdana"/>
                <a:ea typeface="Verdana"/>
              </a:rPr>
              <a:t>Comprador</a:t>
            </a:r>
          </a:p>
          <a:p>
            <a:pPr algn="ctr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clientes de todo Brasil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318DD66-45E0-4A09-8F5C-8904F0FB5640}"/>
              </a:ext>
            </a:extLst>
          </p:cNvPr>
          <p:cNvSpPr/>
          <p:nvPr/>
        </p:nvSpPr>
        <p:spPr>
          <a:xfrm>
            <a:off x="666750" y="3810000"/>
            <a:ext cx="3429000" cy="114300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0A4EE4"/>
                </a:solidFill>
                <a:latin typeface="Verdana"/>
                <a:ea typeface="Verdana"/>
              </a:rPr>
              <a:t>≈100.000</a:t>
            </a:r>
          </a:p>
          <a:p>
            <a:pPr algn="ctr"/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pedidos analizados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849C8F10-727B-4415-87C9-0B935411E6E2}"/>
              </a:ext>
            </a:extLst>
          </p:cNvPr>
          <p:cNvSpPr/>
          <p:nvPr/>
        </p:nvSpPr>
        <p:spPr>
          <a:xfrm>
            <a:off x="4381500" y="3810000"/>
            <a:ext cx="3429000" cy="114300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0A4EE4"/>
                </a:solidFill>
                <a:latin typeface="Verdana"/>
                <a:ea typeface="Verdana"/>
              </a:rPr>
              <a:t>≈3.000</a:t>
            </a:r>
          </a:p>
          <a:p>
            <a:pPr algn="ctr"/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vendedores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B845CBFB-42AB-4796-9259-7B8CE46DB83F}"/>
              </a:ext>
            </a:extLst>
          </p:cNvPr>
          <p:cNvSpPr/>
          <p:nvPr/>
        </p:nvSpPr>
        <p:spPr>
          <a:xfrm>
            <a:off x="8096250" y="3810000"/>
            <a:ext cx="3429000" cy="1143000"/>
          </a:xfrm>
          <a:prstGeom prst="roundRect">
            <a:avLst/>
          </a:prstGeom>
          <a:solidFill>
            <a:srgbClr val="FFF6DE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0B1F4B"/>
                </a:solidFill>
                <a:latin typeface="Verdana"/>
                <a:ea typeface="Verdana"/>
              </a:rPr>
              <a:t>2016 – 2018</a:t>
            </a:r>
          </a:p>
          <a:p>
            <a:pPr algn="ctr"/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dos años de operación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E021701-69DA-4023-9CC1-236F0D020BA8}"/>
              </a:ext>
            </a:extLst>
          </p:cNvPr>
          <p:cNvSpPr txBox="1"/>
          <p:nvPr/>
        </p:nvSpPr>
        <p:spPr>
          <a:xfrm>
            <a:off x="666750" y="5524500"/>
            <a:ext cx="108585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1400" i="1">
                <a:solidFill>
                  <a:srgbClr val="5A6C8C"/>
                </a:solidFill>
                <a:latin typeface="Calibri"/>
                <a:ea typeface="Calibri"/>
              </a:rPr>
              <a:t>Fuente: Brazilian E-Commerce Public Dataset by Olist (Kaggle) · 9 tablas relacionales · datos anónimos: las coordenadas son el centroide del código postal.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D434AB1-1265-45E0-B4D7-F25C7DF8C81F}"/>
              </a:ext>
            </a:extLst>
          </p:cNvPr>
          <p:cNvSpPr/>
          <p:nvPr/>
        </p:nvSpPr>
        <p:spPr>
          <a:xfrm>
            <a:off x="666750" y="419100"/>
            <a:ext cx="2476500" cy="3619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A4EE4"/>
                </a:solidFill>
                <a:latin typeface="Verdana"/>
                <a:ea typeface="Verdana"/>
              </a:rPr>
              <a:t>01 · CONTEXTO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ECC2E6E-B041-445E-A515-F61FB02F6C04}"/>
              </a:ext>
            </a:extLst>
          </p:cNvPr>
          <p:cNvSpPr/>
          <p:nvPr/>
        </p:nvSpPr>
        <p:spPr>
          <a:xfrm>
            <a:off x="11239500" y="552450"/>
            <a:ext cx="133350" cy="13335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CC479CA-50C5-4575-AE23-1B85D40EF53F}"/>
              </a:ext>
            </a:extLst>
          </p:cNvPr>
          <p:cNvSpPr txBox="1"/>
          <p:nvPr/>
        </p:nvSpPr>
        <p:spPr>
          <a:xfrm>
            <a:off x="666750" y="914400"/>
            <a:ext cx="95250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0B1F4B"/>
                </a:solidFill>
                <a:latin typeface="Verdana"/>
                <a:ea typeface="Verdana"/>
              </a:rPr>
              <a:t>¿Por qué importan las reseñas?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9BA3AE49-1352-4948-B7DD-EB53D087CA99}"/>
              </a:ext>
            </a:extLst>
          </p:cNvPr>
          <p:cNvSpPr/>
          <p:nvPr/>
        </p:nvSpPr>
        <p:spPr>
          <a:xfrm>
            <a:off x="666750" y="1762125"/>
            <a:ext cx="10858500" cy="1143000"/>
          </a:xfrm>
          <a:prstGeom prst="roundRect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600"/>
              </a:spcAft>
            </a:pPr>
            <a:r>
              <a:rPr sz="2200" b="1" i="1">
                <a:solidFill>
                  <a:srgbClr val="FFFFFF"/>
                </a:solidFill>
                <a:latin typeface="Calibri"/>
                <a:ea typeface="Calibri"/>
              </a:rPr>
              <a:t>“Un marketplace cuya reputación cae pierde compradores</a:t>
            </a:r>
          </a:p>
          <a:p>
            <a:pPr algn="ctr"/>
            <a:r>
              <a:rPr sz="2200" b="1" i="1">
                <a:solidFill>
                  <a:srgbClr val="FFB800"/>
                </a:solidFill>
                <a:latin typeface="Calibri"/>
                <a:ea typeface="Calibri"/>
              </a:rPr>
              <a:t>y, con ellos, vendedores.”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D5F29DDF-9866-438F-B160-831EA519C288}"/>
              </a:ext>
            </a:extLst>
          </p:cNvPr>
          <p:cNvSpPr/>
          <p:nvPr/>
        </p:nvSpPr>
        <p:spPr>
          <a:xfrm>
            <a:off x="666750" y="3238500"/>
            <a:ext cx="3429000" cy="21907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11CD75D-25E9-48B7-9A20-D0C420B1C503}"/>
              </a:ext>
            </a:extLst>
          </p:cNvPr>
          <p:cNvSpPr/>
          <p:nvPr/>
        </p:nvSpPr>
        <p:spPr>
          <a:xfrm>
            <a:off x="895350" y="3467100"/>
            <a:ext cx="438150" cy="438150"/>
          </a:xfrm>
          <a:prstGeom prst="ellipse">
            <a:avLst/>
          </a:prstGeom>
          <a:solidFill>
            <a:srgbClr val="0A4EE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42A0594-A20B-4C3E-AC04-C3236CDF87F8}"/>
              </a:ext>
            </a:extLst>
          </p:cNvPr>
          <p:cNvSpPr txBox="1"/>
          <p:nvPr/>
        </p:nvSpPr>
        <p:spPr>
          <a:xfrm>
            <a:off x="895350" y="3467100"/>
            <a:ext cx="438150" cy="285750"/>
          </a:xfrm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</a:rPr>
              <a:t>01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92F6EC9-3589-42B8-BC40-0A29CF14D52C}"/>
              </a:ext>
            </a:extLst>
          </p:cNvPr>
          <p:cNvSpPr txBox="1"/>
          <p:nvPr/>
        </p:nvSpPr>
        <p:spPr>
          <a:xfrm>
            <a:off x="952500" y="4095750"/>
            <a:ext cx="2857500" cy="1428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B1F4B"/>
                </a:solidFill>
                <a:latin typeface="Verdana"/>
                <a:ea typeface="Verdana"/>
              </a:rPr>
              <a:t>Explorar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5A6C8C"/>
                </a:solidFill>
                <a:latin typeface="Calibri"/>
                <a:ea typeface="Calibri"/>
              </a:rPr>
              <a:t>Qué factores explican las reseñas negativas del marketplace.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43B6DC9-D20F-418B-8111-0291C867446E}"/>
              </a:ext>
            </a:extLst>
          </p:cNvPr>
          <p:cNvSpPr/>
          <p:nvPr/>
        </p:nvSpPr>
        <p:spPr>
          <a:xfrm>
            <a:off x="4381500" y="3238500"/>
            <a:ext cx="3429000" cy="21907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5545FBAC-42BD-4F79-8695-9E03DD2A5816}"/>
              </a:ext>
            </a:extLst>
          </p:cNvPr>
          <p:cNvSpPr/>
          <p:nvPr/>
        </p:nvSpPr>
        <p:spPr>
          <a:xfrm>
            <a:off x="4610100" y="3467100"/>
            <a:ext cx="438150" cy="438150"/>
          </a:xfrm>
          <a:prstGeom prst="ellipse">
            <a:avLst/>
          </a:prstGeom>
          <a:solidFill>
            <a:srgbClr val="0A4EE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DBEF31C-E860-40D3-9D94-2659A81A1F54}"/>
              </a:ext>
            </a:extLst>
          </p:cNvPr>
          <p:cNvSpPr txBox="1"/>
          <p:nvPr/>
        </p:nvSpPr>
        <p:spPr>
          <a:xfrm>
            <a:off x="4610100" y="3467100"/>
            <a:ext cx="438150" cy="285750"/>
          </a:xfrm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</a:rPr>
              <a:t>02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B07752B-154A-4434-BC6C-CCD1CD604D05}"/>
              </a:ext>
            </a:extLst>
          </p:cNvPr>
          <p:cNvSpPr txBox="1"/>
          <p:nvPr/>
        </p:nvSpPr>
        <p:spPr>
          <a:xfrm>
            <a:off x="4667250" y="4095750"/>
            <a:ext cx="2857500" cy="1428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B1F4B"/>
                </a:solidFill>
                <a:latin typeface="Verdana"/>
                <a:ea typeface="Verdana"/>
              </a:rPr>
              <a:t>Contrastar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5A6C8C"/>
                </a:solidFill>
                <a:latin typeface="Calibri"/>
                <a:ea typeface="Calibri"/>
              </a:rPr>
              <a:t>Cuatro hipótesis de negocio con tests estadísticos formales.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BAA7746B-E129-427F-80E4-A12F584722E3}"/>
              </a:ext>
            </a:extLst>
          </p:cNvPr>
          <p:cNvSpPr/>
          <p:nvPr/>
        </p:nvSpPr>
        <p:spPr>
          <a:xfrm>
            <a:off x="8096250" y="3238500"/>
            <a:ext cx="3429000" cy="21907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52175E0A-7B12-42B1-8315-523E47FE6CFC}"/>
              </a:ext>
            </a:extLst>
          </p:cNvPr>
          <p:cNvSpPr/>
          <p:nvPr/>
        </p:nvSpPr>
        <p:spPr>
          <a:xfrm>
            <a:off x="8324850" y="3467100"/>
            <a:ext cx="438150" cy="43815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82BF23F-AC8A-45A3-BDAB-380E10A141AF}"/>
              </a:ext>
            </a:extLst>
          </p:cNvPr>
          <p:cNvSpPr txBox="1"/>
          <p:nvPr/>
        </p:nvSpPr>
        <p:spPr>
          <a:xfrm>
            <a:off x="8324850" y="3467100"/>
            <a:ext cx="438150" cy="285750"/>
          </a:xfrm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0B1F4B"/>
                </a:solidFill>
                <a:latin typeface="Verdana"/>
                <a:ea typeface="Verdana"/>
              </a:rPr>
              <a:t>03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42432D7-D2F0-4982-B573-65C25F207D1E}"/>
              </a:ext>
            </a:extLst>
          </p:cNvPr>
          <p:cNvSpPr txBox="1"/>
          <p:nvPr/>
        </p:nvSpPr>
        <p:spPr>
          <a:xfrm>
            <a:off x="8382000" y="4095750"/>
            <a:ext cx="2857500" cy="1428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B1F4B"/>
                </a:solidFill>
                <a:latin typeface="Verdana"/>
                <a:ea typeface="Verdana"/>
              </a:rPr>
              <a:t>Predecir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5A6C8C"/>
                </a:solidFill>
                <a:latin typeface="Calibri"/>
                <a:ea typeface="Calibri"/>
              </a:rPr>
              <a:t>Un modelo de riesgo de reseña negativa y una segmentación de vendedores.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9AEF0A16-3AD7-4BC1-A8CE-647C0BF96D2C}"/>
              </a:ext>
            </a:extLst>
          </p:cNvPr>
          <p:cNvSpPr/>
          <p:nvPr/>
        </p:nvSpPr>
        <p:spPr>
          <a:xfrm>
            <a:off x="666750" y="419100"/>
            <a:ext cx="2476500" cy="3619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A4EE4"/>
                </a:solidFill>
                <a:latin typeface="Verdana"/>
                <a:ea typeface="Verdana"/>
              </a:rPr>
              <a:t>02 · METODOLOGÍA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86CF018-F12C-47BB-A916-9DBEB4DE0847}"/>
              </a:ext>
            </a:extLst>
          </p:cNvPr>
          <p:cNvSpPr/>
          <p:nvPr/>
        </p:nvSpPr>
        <p:spPr>
          <a:xfrm>
            <a:off x="11239500" y="552450"/>
            <a:ext cx="133350" cy="13335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FD91556-9BCA-44E1-8CF5-D76C1E5B8C47}"/>
              </a:ext>
            </a:extLst>
          </p:cNvPr>
          <p:cNvSpPr txBox="1"/>
          <p:nvPr/>
        </p:nvSpPr>
        <p:spPr>
          <a:xfrm>
            <a:off x="666750" y="914400"/>
            <a:ext cx="85725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0B1F4B"/>
                </a:solidFill>
                <a:latin typeface="Verdana"/>
                <a:ea typeface="Verdana"/>
              </a:rPr>
              <a:t>Pipeline de trabajo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F977974-F2B5-4DFC-979E-B13B66041D3C}"/>
              </a:ext>
            </a:extLst>
          </p:cNvPr>
          <p:cNvSpPr/>
          <p:nvPr/>
        </p:nvSpPr>
        <p:spPr>
          <a:xfrm>
            <a:off x="666750" y="1857375"/>
            <a:ext cx="2628900" cy="952500"/>
          </a:xfrm>
          <a:prstGeom prst="chevron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9 tablas crudas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43EB0848-05B6-4E73-9F65-215E5CB4E889}"/>
              </a:ext>
            </a:extLst>
          </p:cNvPr>
          <p:cNvSpPr/>
          <p:nvPr/>
        </p:nvSpPr>
        <p:spPr>
          <a:xfrm>
            <a:off x="3409950" y="1857375"/>
            <a:ext cx="2628900" cy="952500"/>
          </a:xfrm>
          <a:prstGeom prst="chevron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Unificación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A406F18-CF3F-4969-BA33-2375E16C1BE9}"/>
              </a:ext>
            </a:extLst>
          </p:cNvPr>
          <p:cNvSpPr/>
          <p:nvPr/>
        </p:nvSpPr>
        <p:spPr>
          <a:xfrm>
            <a:off x="6153150" y="1857375"/>
            <a:ext cx="2628900" cy="952500"/>
          </a:xfrm>
          <a:prstGeom prst="chevron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Limpieza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7E4A82A-FEA9-4EAA-9D34-D1FCA88CA2A1}"/>
              </a:ext>
            </a:extLst>
          </p:cNvPr>
          <p:cNvSpPr/>
          <p:nvPr/>
        </p:nvSpPr>
        <p:spPr>
          <a:xfrm>
            <a:off x="8896350" y="1857375"/>
            <a:ext cx="2628900" cy="952500"/>
          </a:xfrm>
          <a:prstGeom prst="chevron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Feature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engineering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F0446053-11E2-4811-9865-F078EFBF0C8E}"/>
              </a:ext>
            </a:extLst>
          </p:cNvPr>
          <p:cNvSpPr/>
          <p:nvPr/>
        </p:nvSpPr>
        <p:spPr>
          <a:xfrm>
            <a:off x="11049000" y="2876550"/>
            <a:ext cx="419100" cy="247650"/>
          </a:xfrm>
          <a:prstGeom prst="downArrow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B75967A4-F08D-455B-8D6B-812967E9F0CD}"/>
              </a:ext>
            </a:extLst>
          </p:cNvPr>
          <p:cNvSpPr/>
          <p:nvPr/>
        </p:nvSpPr>
        <p:spPr>
          <a:xfrm>
            <a:off x="666750" y="3190875"/>
            <a:ext cx="2628900" cy="952500"/>
          </a:xfrm>
          <a:prstGeom prst="chevron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Análisis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exploratorio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6D8AFE25-4FAA-4C42-9BCB-0D9DBB8A85C7}"/>
              </a:ext>
            </a:extLst>
          </p:cNvPr>
          <p:cNvSpPr/>
          <p:nvPr/>
        </p:nvSpPr>
        <p:spPr>
          <a:xfrm>
            <a:off x="3409950" y="3190875"/>
            <a:ext cx="2628900" cy="952500"/>
          </a:xfrm>
          <a:prstGeom prst="chevron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Contraste de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hipótesis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0613E84B-CFDA-4473-89A8-51F72FC0FA0F}"/>
              </a:ext>
            </a:extLst>
          </p:cNvPr>
          <p:cNvSpPr/>
          <p:nvPr/>
        </p:nvSpPr>
        <p:spPr>
          <a:xfrm>
            <a:off x="6153150" y="3190875"/>
            <a:ext cx="2628900" cy="952500"/>
          </a:xfrm>
          <a:prstGeom prst="chevron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Modelado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82336AEC-BFD4-430A-8DF6-E69AE7B47E98}"/>
              </a:ext>
            </a:extLst>
          </p:cNvPr>
          <p:cNvSpPr/>
          <p:nvPr/>
        </p:nvSpPr>
        <p:spPr>
          <a:xfrm>
            <a:off x="8896350" y="3190875"/>
            <a:ext cx="2628900" cy="952500"/>
          </a:xfrm>
          <a:prstGeom prst="chevron">
            <a:avLst/>
          </a:prstGeom>
          <a:solidFill>
            <a:srgbClr val="FFB800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B1F4B"/>
                </a:solidFill>
                <a:latin typeface="Calibri"/>
                <a:ea typeface="Calibri"/>
              </a:rPr>
              <a:t>Dashboard</a:t>
            </a:r>
          </a:p>
          <a:p>
            <a:pPr algn="ctr"/>
            <a:r>
              <a:rPr sz="1400" b="1">
                <a:solidFill>
                  <a:srgbClr val="0B1F4B"/>
                </a:solidFill>
                <a:latin typeface="Calibri"/>
                <a:ea typeface="Calibri"/>
              </a:rPr>
              <a:t>Streamlit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A3182BB4-90E2-42FD-99BB-843D903FC2EA}"/>
              </a:ext>
            </a:extLst>
          </p:cNvPr>
          <p:cNvSpPr/>
          <p:nvPr/>
        </p:nvSpPr>
        <p:spPr>
          <a:xfrm>
            <a:off x="666750" y="4429125"/>
            <a:ext cx="10858500" cy="857250"/>
          </a:xfrm>
          <a:prstGeom prst="roundRect">
            <a:avLst/>
          </a:prstGeom>
          <a:solidFill>
            <a:srgbClr val="FFF6DE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0B1F4B"/>
                </a:solidFill>
                <a:latin typeface="Verdana"/>
                <a:ea typeface="Verdana"/>
              </a:rPr>
              <a:t>12 notebooks reproducibles (00 → 11)</a:t>
            </a:r>
          </a:p>
          <a:p>
            <a:pPr algn="ctr"/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cada uno consume el artefacto del anterior: todo se puede ejecutar desde cero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0A3F6043-9140-498E-B66B-0B05335DA732}"/>
              </a:ext>
            </a:extLst>
          </p:cNvPr>
          <p:cNvSpPr/>
          <p:nvPr/>
        </p:nvSpPr>
        <p:spPr>
          <a:xfrm>
            <a:off x="666750" y="5524500"/>
            <a:ext cx="10858500" cy="6667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>
                <a:solidFill>
                  <a:srgbClr val="0B1F4B"/>
                </a:solidFill>
                <a:latin typeface="Calibri"/>
                <a:ea typeface="Calibri"/>
              </a:rPr>
              <a:t>Stack: Python 3 · pandas · NumPy · Matplotlib · Seaborn · Plotly · SciPy · scikit-learn · LightGBM · Streamlit · joblib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F7EA2EA1-70A7-49F8-B15A-453DCC698E0D}"/>
              </a:ext>
            </a:extLst>
          </p:cNvPr>
          <p:cNvSpPr/>
          <p:nvPr/>
        </p:nvSpPr>
        <p:spPr>
          <a:xfrm>
            <a:off x="666750" y="419100"/>
            <a:ext cx="2476500" cy="3619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A4EE4"/>
                </a:solidFill>
                <a:latin typeface="Verdana"/>
                <a:ea typeface="Verdana"/>
              </a:rPr>
              <a:t>02 · METODOLOGÍA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9D18B9B-208F-4EAA-BCAB-87EF0D5935CC}"/>
              </a:ext>
            </a:extLst>
          </p:cNvPr>
          <p:cNvSpPr/>
          <p:nvPr/>
        </p:nvSpPr>
        <p:spPr>
          <a:xfrm>
            <a:off x="11239500" y="552450"/>
            <a:ext cx="133350" cy="13335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D8A8572-9D39-4696-9251-BD7DB96693BC}"/>
              </a:ext>
            </a:extLst>
          </p:cNvPr>
          <p:cNvSpPr txBox="1"/>
          <p:nvPr/>
        </p:nvSpPr>
        <p:spPr>
          <a:xfrm>
            <a:off x="666750" y="914400"/>
            <a:ext cx="95250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0B1F4B"/>
                </a:solidFill>
                <a:latin typeface="Verdana"/>
                <a:ea typeface="Verdana"/>
              </a:rPr>
              <a:t>Los datos: estructura y limpieza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930CB7D-80F0-4518-BDEE-FBB26C6A88CC}"/>
              </a:ext>
            </a:extLst>
          </p:cNvPr>
          <p:cNvSpPr/>
          <p:nvPr/>
        </p:nvSpPr>
        <p:spPr>
          <a:xfrm>
            <a:off x="666750" y="1809750"/>
            <a:ext cx="5905500" cy="40957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2AAAB0A-98E8-4B72-9B80-AC4159945216}"/>
              </a:ext>
            </a:extLst>
          </p:cNvPr>
          <p:cNvSpPr txBox="1"/>
          <p:nvPr/>
        </p:nvSpPr>
        <p:spPr>
          <a:xfrm>
            <a:off x="952500" y="2019300"/>
            <a:ext cx="5238750" cy="3048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0B1F4B"/>
                </a:solidFill>
                <a:latin typeface="Verdana"/>
                <a:ea typeface="Verdana"/>
              </a:rPr>
              <a:t>Las 9 tablas originales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0A4EE4"/>
                </a:solidFill>
                <a:latin typeface="Consolas"/>
                <a:ea typeface="Consolas"/>
              </a:rPr>
              <a:t>orders</a:t>
            </a:r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   cada pedido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0A4EE4"/>
                </a:solidFill>
                <a:latin typeface="Consolas"/>
                <a:ea typeface="Consolas"/>
              </a:rPr>
              <a:t>order_items</a:t>
            </a:r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   ítem de pedido: el grano final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0A4EE4"/>
                </a:solidFill>
                <a:latin typeface="Consolas"/>
                <a:ea typeface="Consolas"/>
              </a:rPr>
              <a:t>order_products</a:t>
            </a:r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   ítem × producto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0A4EE4"/>
                </a:solidFill>
                <a:latin typeface="Consolas"/>
                <a:ea typeface="Consolas"/>
              </a:rPr>
              <a:t>order_payments</a:t>
            </a:r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   agregado a nivel pedido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0A4EE4"/>
                </a:solidFill>
                <a:latin typeface="Consolas"/>
                <a:ea typeface="Consolas"/>
              </a:rPr>
              <a:t>order_reviews</a:t>
            </a:r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   última reseña por pedido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0A4EE4"/>
                </a:solidFill>
                <a:latin typeface="Consolas"/>
                <a:ea typeface="Consolas"/>
              </a:rPr>
              <a:t>olist_customers</a:t>
            </a:r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   cliente y su región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0A4EE4"/>
                </a:solidFill>
                <a:latin typeface="Consolas"/>
                <a:ea typeface="Consolas"/>
              </a:rPr>
              <a:t>olist_sellers</a:t>
            </a:r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   vendedor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0A4EE4"/>
                </a:solidFill>
                <a:latin typeface="Consolas"/>
                <a:ea typeface="Consolas"/>
              </a:rPr>
              <a:t>olist_geolocation</a:t>
            </a:r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   unida 2 veces: cliente y vendedor</a:t>
            </a:r>
          </a:p>
          <a:p>
            <a:pPr algn="l"/>
            <a:r>
              <a:rPr sz="1300" b="1">
                <a:solidFill>
                  <a:srgbClr val="0A4EE4"/>
                </a:solidFill>
                <a:latin typeface="Consolas"/>
                <a:ea typeface="Consolas"/>
              </a:rPr>
              <a:t>category_name_translation</a:t>
            </a:r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   categorías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FC798E6-5916-41F0-BB52-DF34F6AA007A}"/>
              </a:ext>
            </a:extLst>
          </p:cNvPr>
          <p:cNvSpPr/>
          <p:nvPr/>
        </p:nvSpPr>
        <p:spPr>
          <a:xfrm>
            <a:off x="6762750" y="1809750"/>
            <a:ext cx="47625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F5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3000" b="1">
                <a:solidFill>
                  <a:srgbClr val="0A4EE4"/>
                </a:solidFill>
                <a:latin typeface="Verdana"/>
                <a:ea typeface="Verdana"/>
              </a:rPr>
              <a:t>0 </a:t>
            </a:r>
            <a:r>
              <a:rPr sz="1500">
                <a:solidFill>
                  <a:srgbClr val="5A6C8C"/>
                </a:solidFill>
                <a:latin typeface="Calibri"/>
                <a:ea typeface="Calibri"/>
              </a:rPr>
              <a:t>duplicados exactos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593FCF7A-7ED1-4416-9D08-3F80DE1696BA}"/>
              </a:ext>
            </a:extLst>
          </p:cNvPr>
          <p:cNvSpPr/>
          <p:nvPr/>
        </p:nvSpPr>
        <p:spPr>
          <a:xfrm>
            <a:off x="6762750" y="2714625"/>
            <a:ext cx="47625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F5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3000" b="1">
                <a:solidFill>
                  <a:srgbClr val="0A4EE4"/>
                </a:solidFill>
                <a:latin typeface="Verdana"/>
                <a:ea typeface="Verdana"/>
              </a:rPr>
              <a:t>42 % </a:t>
            </a:r>
            <a:r>
              <a:rPr sz="1500">
                <a:solidFill>
                  <a:srgbClr val="5A6C8C"/>
                </a:solidFill>
                <a:latin typeface="Calibri"/>
                <a:ea typeface="Calibri"/>
              </a:rPr>
              <a:t>con comentario escrito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A9F04F2-E921-4021-8E3E-BD487754CB04}"/>
              </a:ext>
            </a:extLst>
          </p:cNvPr>
          <p:cNvSpPr/>
          <p:nvPr/>
        </p:nvSpPr>
        <p:spPr>
          <a:xfrm>
            <a:off x="6762750" y="3619500"/>
            <a:ext cx="47625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F5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3000" b="1">
                <a:solidFill>
                  <a:srgbClr val="0A4EE4"/>
                </a:solidFill>
                <a:latin typeface="Verdana"/>
                <a:ea typeface="Verdana"/>
              </a:rPr>
              <a:t>7 </a:t>
            </a:r>
            <a:r>
              <a:rPr sz="1500">
                <a:solidFill>
                  <a:srgbClr val="5A6C8C"/>
                </a:solidFill>
                <a:latin typeface="Calibri"/>
                <a:ea typeface="Calibri"/>
              </a:rPr>
              <a:t>columnas redundantes fuera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86A91FA-084F-400D-8473-D4C9B245BA82}"/>
              </a:ext>
            </a:extLst>
          </p:cNvPr>
          <p:cNvSpPr/>
          <p:nvPr/>
        </p:nvSpPr>
        <p:spPr>
          <a:xfrm>
            <a:off x="6762750" y="4524375"/>
            <a:ext cx="4762500" cy="1381125"/>
          </a:xfrm>
          <a:prstGeom prst="roundRect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Verdana"/>
                <a:ea typeface="Verdana"/>
              </a:rPr>
              <a:t>112.650 × 43</a:t>
            </a:r>
          </a:p>
          <a:p>
            <a:pPr algn="ctr">
              <a:spcAft>
                <a:spcPts val="600"/>
              </a:spcAft>
            </a:pPr>
            <a:r>
              <a:rPr sz="1400">
                <a:solidFill>
                  <a:srgbClr val="DCE7FF"/>
                </a:solidFill>
                <a:latin typeface="Calibri"/>
                <a:ea typeface="Calibri"/>
              </a:rPr>
              <a:t>filas × columnas finales</a:t>
            </a:r>
          </a:p>
          <a:p>
            <a:pPr algn="ctr"/>
            <a:r>
              <a:rPr sz="1400">
                <a:solidFill>
                  <a:srgbClr val="FFB800"/>
                </a:solidFill>
                <a:latin typeface="Calibri"/>
                <a:ea typeface="Calibri"/>
              </a:rPr>
              <a:t>9 variables nuevas · los nulos se conservan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B133121-0898-42A6-94F7-BB2D3EFAD4DF}"/>
              </a:ext>
            </a:extLst>
          </p:cNvPr>
          <p:cNvSpPr txBox="1"/>
          <p:nvPr/>
        </p:nvSpPr>
        <p:spPr>
          <a:xfrm>
            <a:off x="666750" y="6038850"/>
            <a:ext cx="5905500" cy="68351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i="1">
                <a:solidFill>
                  <a:srgbClr val="5A6C8C"/>
                </a:solidFill>
                <a:latin typeface="Calibri"/>
                <a:ea typeface="Calibri"/>
              </a:rPr>
              <a:t>Left joins sobre la tabla de ítems. Nada se borra ni se inventa: los nulos quedan donde el dato no existe (pedidos no entregados). 1.627 categorías faltantes pasan a “sin categoría”.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C8E9CFB4-9E03-4DD1-B7CF-B32AF9F696B4}"/>
              </a:ext>
            </a:extLst>
          </p:cNvPr>
          <p:cNvSpPr/>
          <p:nvPr/>
        </p:nvSpPr>
        <p:spPr>
          <a:xfrm>
            <a:off x="666750" y="419100"/>
            <a:ext cx="2667000" cy="3619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A4EE4"/>
                </a:solidFill>
                <a:latin typeface="Verdana"/>
                <a:ea typeface="Verdana"/>
              </a:rPr>
              <a:t>03 · ANÁLISIS EXPLORATORIO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9943C40-DAA9-49B6-A367-A216D58BFFB7}"/>
              </a:ext>
            </a:extLst>
          </p:cNvPr>
          <p:cNvSpPr/>
          <p:nvPr/>
        </p:nvSpPr>
        <p:spPr>
          <a:xfrm>
            <a:off x="11239500" y="552450"/>
            <a:ext cx="133350" cy="13335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3609CBE-C082-4453-8482-AB718F05DFBC}"/>
              </a:ext>
            </a:extLst>
          </p:cNvPr>
          <p:cNvSpPr txBox="1"/>
          <p:nvPr/>
        </p:nvSpPr>
        <p:spPr>
          <a:xfrm>
            <a:off x="666750" y="914400"/>
            <a:ext cx="85725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0B1F4B"/>
                </a:solidFill>
                <a:latin typeface="Verdana"/>
                <a:ea typeface="Verdana"/>
              </a:rPr>
              <a:t>Evolución del negocio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139043B-131B-4F54-9F65-51DBC66A1D7F}"/>
              </a:ext>
            </a:extLst>
          </p:cNvPr>
          <p:cNvSpPr/>
          <p:nvPr/>
        </p:nvSpPr>
        <p:spPr>
          <a:xfrm>
            <a:off x="666750" y="1762125"/>
            <a:ext cx="7239000" cy="40957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59E16D8B-D5A7-46F8-81B8-244E848511D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95350" y="2447925"/>
            <a:ext cx="6781800" cy="272415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7D1B4557-CF67-4E4B-AF9E-D0D670DD62ED}"/>
              </a:ext>
            </a:extLst>
          </p:cNvPr>
          <p:cNvSpPr txBox="1"/>
          <p:nvPr/>
        </p:nvSpPr>
        <p:spPr>
          <a:xfrm>
            <a:off x="895350" y="5334000"/>
            <a:ext cx="666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A6C8C"/>
                </a:solidFill>
                <a:latin typeface="Calibri"/>
                <a:ea typeface="Calibri"/>
              </a:rPr>
              <a:t>Figura 1 · cantidad de pedidos únicos por mes (sept. 2016 – sept. 2018)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C23DD305-79F7-49EA-88B6-86F2CC0972BD}"/>
              </a:ext>
            </a:extLst>
          </p:cNvPr>
          <p:cNvSpPr/>
          <p:nvPr/>
        </p:nvSpPr>
        <p:spPr>
          <a:xfrm>
            <a:off x="8191500" y="1762125"/>
            <a:ext cx="3333750" cy="1333500"/>
          </a:xfrm>
          <a:prstGeom prst="roundRect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Verdana"/>
                <a:ea typeface="Verdana"/>
              </a:rPr>
              <a:t>7.450</a:t>
            </a:r>
          </a:p>
          <a:p>
            <a:pPr algn="ctr"/>
            <a:r>
              <a:rPr sz="1400">
                <a:solidFill>
                  <a:srgbClr val="DCE7FF"/>
                </a:solidFill>
                <a:latin typeface="Calibri"/>
                <a:ea typeface="Calibri"/>
              </a:rPr>
              <a:t>pedidos en noviembre de</a:t>
            </a:r>
          </a:p>
          <a:p>
            <a:pPr algn="ctr"/>
            <a:r>
              <a:rPr sz="1400" b="1">
                <a:solidFill>
                  <a:srgbClr val="FFB800"/>
                </a:solidFill>
                <a:latin typeface="Calibri"/>
                <a:ea typeface="Calibri"/>
              </a:rPr>
              <a:t>2017 · Black Friday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F34CBC4-468B-4D99-935B-7AEB00342296}"/>
              </a:ext>
            </a:extLst>
          </p:cNvPr>
          <p:cNvSpPr/>
          <p:nvPr/>
        </p:nvSpPr>
        <p:spPr>
          <a:xfrm>
            <a:off x="8191500" y="3238500"/>
            <a:ext cx="3333750" cy="1143000"/>
          </a:xfrm>
          <a:prstGeom prst="roundRect">
            <a:avLst/>
          </a:prstGeom>
          <a:solidFill>
            <a:srgbClr val="FFF6DE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B1F4B"/>
                </a:solidFill>
                <a:latin typeface="Verdana"/>
                <a:ea typeface="Verdana"/>
              </a:rPr>
              <a:t>≈ 6.500</a:t>
            </a:r>
          </a:p>
          <a:p>
            <a:pPr algn="ctr"/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pedidos por mes desde</a:t>
            </a:r>
          </a:p>
          <a:p>
            <a:pPr algn="ctr"/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enero de 2018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8BE1DFAC-62CD-426A-9B5B-842A7BD5EC04}"/>
              </a:ext>
            </a:extLst>
          </p:cNvPr>
          <p:cNvSpPr/>
          <p:nvPr/>
        </p:nvSpPr>
        <p:spPr>
          <a:xfrm>
            <a:off x="8191500" y="4524375"/>
            <a:ext cx="3333750" cy="1381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F5"/>
            </a:solidFill>
          </a:ln>
        </p:spPr>
        <p:txBody>
          <a:bodyPr wrap="square" rtlCol="0" lIns="0" tIns="0" rIns="0" bIns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0B1F4B"/>
                </a:solidFill>
                <a:latin typeface="Verdana"/>
                <a:ea typeface="Verdana"/>
              </a:rPr>
              <a:t>Meseta de madurez</a:t>
            </a:r>
          </a:p>
          <a:p>
            <a:pPr algn="ctr">
              <a:lnSpc>
                <a:spcPct val="115000"/>
              </a:lnSpc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tras el pico, el volumen deja de crecer: el marketplace ya es maduro dentro de la ventana observada.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5C435D42-2533-430F-8C21-26AB5AEC80B0}"/>
              </a:ext>
            </a:extLst>
          </p:cNvPr>
          <p:cNvSpPr/>
          <p:nvPr/>
        </p:nvSpPr>
        <p:spPr>
          <a:xfrm>
            <a:off x="666750" y="419100"/>
            <a:ext cx="2667000" cy="3619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A4EE4"/>
                </a:solidFill>
                <a:latin typeface="Verdana"/>
                <a:ea typeface="Verdana"/>
              </a:rPr>
              <a:t>03 · ANÁLISIS EXPLORATORIO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9EF4155-037D-4A5E-ACA4-2441B67F814E}"/>
              </a:ext>
            </a:extLst>
          </p:cNvPr>
          <p:cNvSpPr/>
          <p:nvPr/>
        </p:nvSpPr>
        <p:spPr>
          <a:xfrm>
            <a:off x="11239500" y="552450"/>
            <a:ext cx="133350" cy="13335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F2F0207-1475-4B15-B2ED-D6EEE35D48B8}"/>
              </a:ext>
            </a:extLst>
          </p:cNvPr>
          <p:cNvSpPr txBox="1"/>
          <p:nvPr/>
        </p:nvSpPr>
        <p:spPr>
          <a:xfrm>
            <a:off x="666750" y="914400"/>
            <a:ext cx="85725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0B1F4B"/>
                </a:solidFill>
                <a:latin typeface="Verdana"/>
                <a:ea typeface="Verdana"/>
              </a:rPr>
              <a:t>Satisfacción y reseñas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8514707-EFA1-43EE-B173-547B07A337D7}"/>
              </a:ext>
            </a:extLst>
          </p:cNvPr>
          <p:cNvSpPr/>
          <p:nvPr/>
        </p:nvSpPr>
        <p:spPr>
          <a:xfrm>
            <a:off x="666750" y="1762125"/>
            <a:ext cx="5334000" cy="40957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FBA17726-6F1D-46E3-BCFC-104D5AB8082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04875" y="2047875"/>
            <a:ext cx="4857750" cy="30861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A04D4067-D28D-4721-B0E8-DF2F575D284B}"/>
              </a:ext>
            </a:extLst>
          </p:cNvPr>
          <p:cNvSpPr txBox="1"/>
          <p:nvPr/>
        </p:nvSpPr>
        <p:spPr>
          <a:xfrm>
            <a:off x="904875" y="5295900"/>
            <a:ext cx="4762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A6C8C"/>
                </a:solidFill>
                <a:latin typeface="Calibri"/>
                <a:ea typeface="Calibri"/>
              </a:rPr>
              <a:t>Figura 2 · distribución del review_score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B25908E5-BDC6-4D4A-B6E4-46DE4532B2C6}"/>
              </a:ext>
            </a:extLst>
          </p:cNvPr>
          <p:cNvSpPr/>
          <p:nvPr/>
        </p:nvSpPr>
        <p:spPr>
          <a:xfrm>
            <a:off x="6191250" y="1762125"/>
            <a:ext cx="5334000" cy="1428750"/>
          </a:xfrm>
          <a:prstGeom prst="roundRect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Verdana"/>
                <a:ea typeface="Verdana"/>
              </a:rPr>
              <a:t>75 %</a:t>
            </a:r>
          </a:p>
          <a:p>
            <a:pPr algn="ctr"/>
            <a:r>
              <a:rPr sz="1500">
                <a:solidFill>
                  <a:srgbClr val="DCE7FF"/>
                </a:solidFill>
                <a:latin typeface="Calibri"/>
                <a:ea typeface="Calibri"/>
              </a:rPr>
              <a:t>califica con 4 o 5 estrellas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B540596-9994-46F2-8A68-B7C37468EA17}"/>
              </a:ext>
            </a:extLst>
          </p:cNvPr>
          <p:cNvSpPr/>
          <p:nvPr/>
        </p:nvSpPr>
        <p:spPr>
          <a:xfrm>
            <a:off x="6191250" y="3333750"/>
            <a:ext cx="5334000" cy="1428750"/>
          </a:xfrm>
          <a:prstGeom prst="roundRect">
            <a:avLst/>
          </a:prstGeom>
          <a:solidFill>
            <a:srgbClr val="FFF6DE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0B1F4B"/>
                </a:solidFill>
                <a:latin typeface="Verdana"/>
                <a:ea typeface="Verdana"/>
              </a:rPr>
              <a:t>16 %</a:t>
            </a:r>
          </a:p>
          <a:p>
            <a:pPr algn="ctr"/>
            <a:r>
              <a:rPr sz="1500">
                <a:solidFill>
                  <a:srgbClr val="5A6C8C"/>
                </a:solidFill>
                <a:latin typeface="Calibri"/>
                <a:ea typeface="Calibri"/>
              </a:rPr>
              <a:t>deja 1 o 2 estrellas: eso es lo que hay que explicar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9D80CA25-6068-48ED-95D5-8071561F9300}"/>
              </a:ext>
            </a:extLst>
          </p:cNvPr>
          <p:cNvSpPr/>
          <p:nvPr/>
        </p:nvSpPr>
        <p:spPr>
          <a:xfrm>
            <a:off x="6191250" y="4905375"/>
            <a:ext cx="5334000" cy="95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F5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18000"/>
              </a:lnSpc>
            </a:pPr>
            <a:r>
              <a:rPr sz="1400">
                <a:solidFill>
                  <a:srgbClr val="0B1F4B"/>
                </a:solidFill>
                <a:latin typeface="Calibri"/>
                <a:ea typeface="Calibri"/>
              </a:rPr>
              <a:t>Más de la mitad de las reseñas da 5 estrellas. Las de 3 se descartan por ambiguas: quedan solo positivas y negativas, un target binario nítido.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CF39687D-128A-48E1-BA8B-EC352A0A5566}"/>
              </a:ext>
            </a:extLst>
          </p:cNvPr>
          <p:cNvSpPr/>
          <p:nvPr/>
        </p:nvSpPr>
        <p:spPr>
          <a:xfrm>
            <a:off x="666750" y="419100"/>
            <a:ext cx="2667000" cy="3619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A4EE4"/>
                </a:solidFill>
                <a:latin typeface="Verdana"/>
                <a:ea typeface="Verdana"/>
              </a:rPr>
              <a:t>03 · ANÁLISIS EXPLORATORIO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2EB1970-7A80-4C15-8ED0-8B53ABC47BDC}"/>
              </a:ext>
            </a:extLst>
          </p:cNvPr>
          <p:cNvSpPr/>
          <p:nvPr/>
        </p:nvSpPr>
        <p:spPr>
          <a:xfrm>
            <a:off x="11239500" y="552450"/>
            <a:ext cx="133350" cy="13335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153310A-0AC7-49AE-B669-E5A7CFB6D9E0}"/>
              </a:ext>
            </a:extLst>
          </p:cNvPr>
          <p:cNvSpPr txBox="1"/>
          <p:nvPr/>
        </p:nvSpPr>
        <p:spPr>
          <a:xfrm>
            <a:off x="666750" y="914400"/>
            <a:ext cx="95250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0B1F4B"/>
                </a:solidFill>
                <a:latin typeface="Verdana"/>
                <a:ea typeface="Verdana"/>
              </a:rPr>
              <a:t>La logística es el problema central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076B08F-7CF3-4D11-9630-FC78374EDC71}"/>
              </a:ext>
            </a:extLst>
          </p:cNvPr>
          <p:cNvSpPr/>
          <p:nvPr/>
        </p:nvSpPr>
        <p:spPr>
          <a:xfrm>
            <a:off x="666750" y="1762125"/>
            <a:ext cx="4953000" cy="1905000"/>
          </a:xfrm>
          <a:prstGeom prst="roundRect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800"/>
              </a:spcAft>
            </a:pPr>
            <a:r>
              <a:rPr sz="5200" b="1">
                <a:solidFill>
                  <a:srgbClr val="FFFFFF"/>
                </a:solidFill>
                <a:latin typeface="Verdana"/>
                <a:ea typeface="Verdana"/>
              </a:rPr>
              <a:t>7,9 % </a:t>
            </a:r>
            <a:r>
              <a:rPr sz="2200">
                <a:solidFill>
                  <a:srgbClr val="FFB800"/>
                </a:solidFill>
                <a:latin typeface="Verdana"/>
                <a:ea typeface="Verdana"/>
              </a:rPr>
              <a:t>llega tarde</a:t>
            </a:r>
          </a:p>
          <a:p>
            <a:pPr algn="ctr"/>
            <a:r>
              <a:rPr sz="1500">
                <a:solidFill>
                  <a:srgbClr val="DCE7FF"/>
                </a:solidFill>
                <a:latin typeface="Calibri"/>
                <a:ea typeface="Calibri"/>
              </a:rPr>
              <a:t>de los pedidos entregados supera</a:t>
            </a:r>
          </a:p>
          <a:p>
            <a:pPr algn="ctr"/>
            <a:r>
              <a:rPr sz="1500">
                <a:solidFill>
                  <a:srgbClr val="DCE7FF"/>
                </a:solidFill>
                <a:latin typeface="Calibri"/>
                <a:ea typeface="Calibri"/>
              </a:rPr>
              <a:t>la fecha prometida de entrega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DF7ABD2E-6C72-4835-A990-9842DA33F310}"/>
              </a:ext>
            </a:extLst>
          </p:cNvPr>
          <p:cNvSpPr/>
          <p:nvPr/>
        </p:nvSpPr>
        <p:spPr>
          <a:xfrm>
            <a:off x="666750" y="3810000"/>
            <a:ext cx="2095500" cy="171450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0A4EE4"/>
                </a:solidFill>
                <a:latin typeface="Verdana"/>
                <a:ea typeface="Verdana"/>
              </a:rPr>
              <a:t>4,21</a:t>
            </a:r>
          </a:p>
          <a:p>
            <a:pPr algn="ctr">
              <a:spcAft>
                <a:spcPts val="400"/>
              </a:spcAft>
            </a:pPr>
            <a:r>
              <a:rPr sz="1500">
                <a:solidFill>
                  <a:srgbClr val="0B1F4B"/>
                </a:solidFill>
                <a:latin typeface="Calibri"/>
                <a:ea typeface="Calibri"/>
              </a:rPr>
              <a:t>estrellas</a:t>
            </a:r>
          </a:p>
          <a:p>
            <a:pPr algn="ctr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entregado a tiempo · mediana 5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2D234E35-5A4B-48B2-86A4-44020467BC68}"/>
              </a:ext>
            </a:extLst>
          </p:cNvPr>
          <p:cNvSpPr/>
          <p:nvPr/>
        </p:nvSpPr>
        <p:spPr>
          <a:xfrm>
            <a:off x="2857500" y="4476750"/>
            <a:ext cx="428625" cy="381000"/>
          </a:xfrm>
          <a:prstGeom prst="rightArrow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AB29BFF-1DC9-41FD-A2AF-E0591B2C0532}"/>
              </a:ext>
            </a:extLst>
          </p:cNvPr>
          <p:cNvSpPr/>
          <p:nvPr/>
        </p:nvSpPr>
        <p:spPr>
          <a:xfrm>
            <a:off x="3381375" y="3810000"/>
            <a:ext cx="2095500" cy="1714500"/>
          </a:xfrm>
          <a:prstGeom prst="roundRect">
            <a:avLst/>
          </a:prstGeom>
          <a:solidFill>
            <a:srgbClr val="FFF6DE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0B1F4B"/>
                </a:solidFill>
                <a:latin typeface="Verdana"/>
                <a:ea typeface="Verdana"/>
              </a:rPr>
              <a:t>2,55</a:t>
            </a:r>
          </a:p>
          <a:p>
            <a:pPr algn="ctr">
              <a:spcAft>
                <a:spcPts val="400"/>
              </a:spcAft>
            </a:pPr>
            <a:r>
              <a:rPr sz="1500">
                <a:solidFill>
                  <a:srgbClr val="0B1F4B"/>
                </a:solidFill>
                <a:latin typeface="Calibri"/>
                <a:ea typeface="Calibri"/>
              </a:rPr>
              <a:t>estrellas</a:t>
            </a:r>
          </a:p>
          <a:p>
            <a:pPr algn="ctr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envío demorado · mediana 2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29CC29BF-27F3-4629-B081-2850E47374CC}"/>
              </a:ext>
            </a:extLst>
          </p:cNvPr>
          <p:cNvSpPr/>
          <p:nvPr/>
        </p:nvSpPr>
        <p:spPr>
          <a:xfrm>
            <a:off x="666750" y="5667375"/>
            <a:ext cx="4810125" cy="1047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F5"/>
            </a:solidFill>
          </a:ln>
        </p:spPr>
        <p:txBody>
          <a:bodyPr wrap="square" rtlCol="0" lIns="0" tIns="0" rIns="0" bIns="0" anchor="ctr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A4EE4"/>
                </a:solidFill>
                <a:latin typeface="Verdana"/>
                <a:ea typeface="Verdana"/>
              </a:rPr>
              <a:t>−1,7 estrellas</a:t>
            </a:r>
          </a:p>
          <a:p>
            <a:pPr algn="ctr">
              <a:lnSpc>
                <a:spcPct val="115000"/>
              </a:lnSpc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La brecha es mucho mayor que la del precio o la categoría del producto.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A6433FE-43C0-4ED0-A76F-5BECD64DAF4A}"/>
              </a:ext>
            </a:extLst>
          </p:cNvPr>
          <p:cNvSpPr/>
          <p:nvPr/>
        </p:nvSpPr>
        <p:spPr>
          <a:xfrm>
            <a:off x="6000750" y="1762125"/>
            <a:ext cx="5524500" cy="40957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61D2A5CF-9139-4AAD-9844-94BCD5ED4B2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10300" y="2000250"/>
            <a:ext cx="5095875" cy="32385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8EF5C1FB-A977-43B0-B43A-F42FDE272077}"/>
              </a:ext>
            </a:extLst>
          </p:cNvPr>
          <p:cNvSpPr txBox="1"/>
          <p:nvPr/>
        </p:nvSpPr>
        <p:spPr>
          <a:xfrm>
            <a:off x="6210300" y="5381625"/>
            <a:ext cx="4953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A6C8C"/>
                </a:solidFill>
                <a:latin typeface="Calibri"/>
                <a:ea typeface="Calibri"/>
              </a:rPr>
              <a:t>Figura 7 · calificación según cumplimiento del plazo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312DD45-D213-4837-972C-2B1B4F062184}"/>
              </a:ext>
            </a:extLst>
          </p:cNvPr>
          <p:cNvSpPr/>
          <p:nvPr/>
        </p:nvSpPr>
        <p:spPr>
          <a:xfrm>
            <a:off x="666750" y="419100"/>
            <a:ext cx="2667000" cy="3619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A4EE4"/>
                </a:solidFill>
                <a:latin typeface="Verdana"/>
                <a:ea typeface="Verdana"/>
              </a:rPr>
              <a:t>03 · ANÁLISIS EXPLORATORIO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AF69D5B-64A6-4094-B2CC-24051F9FD6E3}"/>
              </a:ext>
            </a:extLst>
          </p:cNvPr>
          <p:cNvSpPr/>
          <p:nvPr/>
        </p:nvSpPr>
        <p:spPr>
          <a:xfrm>
            <a:off x="11239500" y="552450"/>
            <a:ext cx="133350" cy="13335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66BE494-E27A-4558-BDA7-B0736949C603}"/>
              </a:ext>
            </a:extLst>
          </p:cNvPr>
          <p:cNvSpPr txBox="1"/>
          <p:nvPr/>
        </p:nvSpPr>
        <p:spPr>
          <a:xfrm>
            <a:off x="666750" y="914400"/>
            <a:ext cx="9525000" cy="914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0B1F4B"/>
                </a:solidFill>
                <a:latin typeface="Verdana"/>
                <a:ea typeface="Verdana"/>
              </a:rPr>
              <a:t>Brecha geográfica: Sudeste vs. resto del país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BFA66B8-38E1-4DFA-9D5E-B943C0DB2F13}"/>
              </a:ext>
            </a:extLst>
          </p:cNvPr>
          <p:cNvSpPr/>
          <p:nvPr/>
        </p:nvSpPr>
        <p:spPr>
          <a:xfrm>
            <a:off x="666750" y="1714500"/>
            <a:ext cx="5286375" cy="400050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329BA76-8601-4C13-AA22-D79C3B0133D9}"/>
              </a:ext>
            </a:extLst>
          </p:cNvPr>
          <p:cNvSpPr txBox="1"/>
          <p:nvPr/>
        </p:nvSpPr>
        <p:spPr>
          <a:xfrm>
            <a:off x="952500" y="1952625"/>
            <a:ext cx="2857500" cy="5842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A4EE4"/>
                </a:solidFill>
                <a:latin typeface="Verdana"/>
                <a:ea typeface="Verdana"/>
              </a:rPr>
              <a:t>Sudeste</a:t>
            </a:r>
          </a:p>
          <a:p>
            <a:pPr algn="l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75.731 ítems analizados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DAA2C0F-8C3F-439F-8C38-23DEFCD20B27}"/>
              </a:ext>
            </a:extLst>
          </p:cNvPr>
          <p:cNvSpPr txBox="1"/>
          <p:nvPr/>
        </p:nvSpPr>
        <p:spPr>
          <a:xfrm>
            <a:off x="952500" y="2857500"/>
            <a:ext cx="1714500" cy="24765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Flete promedio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CBD0ACC-1064-4EAA-BAE7-54C4A66DD42C}"/>
              </a:ext>
            </a:extLst>
          </p:cNvPr>
          <p:cNvSpPr txBox="1"/>
          <p:nvPr/>
        </p:nvSpPr>
        <p:spPr>
          <a:xfrm>
            <a:off x="2857500" y="2798445"/>
            <a:ext cx="2667000" cy="365760"/>
          </a:xfrm>
        </p:spPr>
        <p:txBody>
          <a:bodyPr wrap="square" rtlCol="0" lIns="0" tIns="0" rIns="0" bIns="0" anchor="ctr"/>
          <a:lstStyle/>
          <a:p>
            <a:pPr algn="r"/>
            <a:r>
              <a:rPr sz="2400" b="1">
                <a:solidFill>
                  <a:srgbClr val="0B1F4B"/>
                </a:solidFill>
                <a:latin typeface="Verdana"/>
                <a:ea typeface="Verdana"/>
              </a:rPr>
              <a:t>R$ 17,4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F0E32CC-16C7-4788-AC9F-112BA8FED5D2}"/>
              </a:ext>
            </a:extLst>
          </p:cNvPr>
          <p:cNvSpPr txBox="1"/>
          <p:nvPr/>
        </p:nvSpPr>
        <p:spPr>
          <a:xfrm>
            <a:off x="952500" y="3600450"/>
            <a:ext cx="1714500" cy="24765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Días de entrega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93E4EFC-7D5E-4DF8-84DE-E87E966CF503}"/>
              </a:ext>
            </a:extLst>
          </p:cNvPr>
          <p:cNvSpPr txBox="1"/>
          <p:nvPr/>
        </p:nvSpPr>
        <p:spPr>
          <a:xfrm>
            <a:off x="2857500" y="3541395"/>
            <a:ext cx="2667000" cy="365760"/>
          </a:xfrm>
        </p:spPr>
        <p:txBody>
          <a:bodyPr wrap="square" rtlCol="0" lIns="0" tIns="0" rIns="0" bIns="0" anchor="ctr"/>
          <a:lstStyle/>
          <a:p>
            <a:pPr algn="r"/>
            <a:r>
              <a:rPr sz="2400" b="1">
                <a:solidFill>
                  <a:srgbClr val="0B1F4B"/>
                </a:solidFill>
                <a:latin typeface="Verdana"/>
                <a:ea typeface="Verdana"/>
              </a:rPr>
              <a:t>10,2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F2C7A77-F629-4D21-8A6A-61451A7FE1E0}"/>
              </a:ext>
            </a:extLst>
          </p:cNvPr>
          <p:cNvSpPr txBox="1"/>
          <p:nvPr/>
        </p:nvSpPr>
        <p:spPr>
          <a:xfrm>
            <a:off x="952500" y="4343400"/>
            <a:ext cx="1714500" cy="24765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% de envíos demorados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A53DE60-7F35-4801-B14E-A982CDC187FA}"/>
              </a:ext>
            </a:extLst>
          </p:cNvPr>
          <p:cNvSpPr txBox="1"/>
          <p:nvPr/>
        </p:nvSpPr>
        <p:spPr>
          <a:xfrm>
            <a:off x="2857500" y="4284345"/>
            <a:ext cx="2667000" cy="365760"/>
          </a:xfrm>
        </p:spPr>
        <p:txBody>
          <a:bodyPr wrap="square" rtlCol="0" lIns="0" tIns="0" rIns="0" bIns="0" anchor="ctr"/>
          <a:lstStyle/>
          <a:p>
            <a:pPr algn="r"/>
            <a:r>
              <a:rPr sz="2400" b="1">
                <a:solidFill>
                  <a:srgbClr val="0B1F4B"/>
                </a:solidFill>
                <a:latin typeface="Verdana"/>
                <a:ea typeface="Verdana"/>
              </a:rPr>
              <a:t>7 %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A48B8C4-5BC6-43C2-9319-62518CAB174C}"/>
              </a:ext>
            </a:extLst>
          </p:cNvPr>
          <p:cNvSpPr txBox="1"/>
          <p:nvPr/>
        </p:nvSpPr>
        <p:spPr>
          <a:xfrm>
            <a:off x="952500" y="5086350"/>
            <a:ext cx="1714500" cy="24765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Ticket promedio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6A16CAD-0D34-43D7-B409-2EEB305F97BB}"/>
              </a:ext>
            </a:extLst>
          </p:cNvPr>
          <p:cNvSpPr txBox="1"/>
          <p:nvPr/>
        </p:nvSpPr>
        <p:spPr>
          <a:xfrm>
            <a:off x="2857500" y="5027295"/>
            <a:ext cx="2667000" cy="365760"/>
          </a:xfrm>
        </p:spPr>
        <p:txBody>
          <a:bodyPr wrap="square" rtlCol="0" lIns="0" tIns="0" rIns="0" bIns="0" anchor="ctr"/>
          <a:lstStyle/>
          <a:p>
            <a:pPr algn="r"/>
            <a:r>
              <a:rPr sz="2400" b="1">
                <a:solidFill>
                  <a:srgbClr val="0B1F4B"/>
                </a:solidFill>
                <a:latin typeface="Verdana"/>
                <a:ea typeface="Verdana"/>
              </a:rPr>
              <a:t>R$ 114,8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C3BF1190-3D40-4661-8586-804F5D930F91}"/>
              </a:ext>
            </a:extLst>
          </p:cNvPr>
          <p:cNvSpPr/>
          <p:nvPr/>
        </p:nvSpPr>
        <p:spPr>
          <a:xfrm>
            <a:off x="6238875" y="1714500"/>
            <a:ext cx="5286375" cy="4000500"/>
          </a:xfrm>
          <a:prstGeom prst="roundRect">
            <a:avLst/>
          </a:prstGeom>
          <a:solidFill>
            <a:srgbClr val="FFF6D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EA72F1F-BF4C-4021-96C5-91ED5EE6CAD4}"/>
              </a:ext>
            </a:extLst>
          </p:cNvPr>
          <p:cNvSpPr txBox="1"/>
          <p:nvPr/>
        </p:nvSpPr>
        <p:spPr>
          <a:xfrm>
            <a:off x="6524625" y="1952625"/>
            <a:ext cx="2857500" cy="5842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B1F4B"/>
                </a:solidFill>
                <a:latin typeface="Verdana"/>
                <a:ea typeface="Verdana"/>
              </a:rPr>
              <a:t>Resto del país</a:t>
            </a:r>
          </a:p>
          <a:p>
            <a:pPr algn="l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34.465 ítems analizados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937B7C1-1F01-4403-9609-4F7494EA1157}"/>
              </a:ext>
            </a:extLst>
          </p:cNvPr>
          <p:cNvSpPr txBox="1"/>
          <p:nvPr/>
        </p:nvSpPr>
        <p:spPr>
          <a:xfrm>
            <a:off x="6524625" y="2857500"/>
            <a:ext cx="1714500" cy="24765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Flete promedio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EA14193-EC33-450C-88A4-7E84B9300A8E}"/>
              </a:ext>
            </a:extLst>
          </p:cNvPr>
          <p:cNvSpPr txBox="1"/>
          <p:nvPr/>
        </p:nvSpPr>
        <p:spPr>
          <a:xfrm>
            <a:off x="8429625" y="2798445"/>
            <a:ext cx="2667000" cy="365760"/>
          </a:xfrm>
        </p:spPr>
        <p:txBody>
          <a:bodyPr wrap="square" rtlCol="0" lIns="0" tIns="0" rIns="0" bIns="0" anchor="ctr"/>
          <a:lstStyle/>
          <a:p>
            <a:pPr algn="r"/>
            <a:r>
              <a:rPr sz="2400" b="1">
                <a:solidFill>
                  <a:srgbClr val="0A4EE4"/>
                </a:solidFill>
                <a:latin typeface="Verdana"/>
                <a:ea typeface="Verdana"/>
              </a:rPr>
              <a:t>R$ 25,7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0CEF909-4FA0-4629-BD35-392938CD8D18}"/>
              </a:ext>
            </a:extLst>
          </p:cNvPr>
          <p:cNvSpPr txBox="1"/>
          <p:nvPr/>
        </p:nvSpPr>
        <p:spPr>
          <a:xfrm>
            <a:off x="6524625" y="3600450"/>
            <a:ext cx="1714500" cy="24765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Días de entrega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91796B7-6300-4BAA-8F81-1963C3C83727}"/>
              </a:ext>
            </a:extLst>
          </p:cNvPr>
          <p:cNvSpPr txBox="1"/>
          <p:nvPr/>
        </p:nvSpPr>
        <p:spPr>
          <a:xfrm>
            <a:off x="8429625" y="3541395"/>
            <a:ext cx="2667000" cy="365760"/>
          </a:xfrm>
        </p:spPr>
        <p:txBody>
          <a:bodyPr wrap="square" rtlCol="0" lIns="0" tIns="0" rIns="0" bIns="0" anchor="ctr"/>
          <a:lstStyle/>
          <a:p>
            <a:pPr algn="r"/>
            <a:r>
              <a:rPr sz="2400" b="1">
                <a:solidFill>
                  <a:srgbClr val="0A4EE4"/>
                </a:solidFill>
                <a:latin typeface="Verdana"/>
                <a:ea typeface="Verdana"/>
              </a:rPr>
              <a:t>15,9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9DAC1A9-1D09-4178-8350-5AF93FBDD96E}"/>
              </a:ext>
            </a:extLst>
          </p:cNvPr>
          <p:cNvSpPr txBox="1"/>
          <p:nvPr/>
        </p:nvSpPr>
        <p:spPr>
          <a:xfrm>
            <a:off x="6524625" y="4343400"/>
            <a:ext cx="1714500" cy="24765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% de envíos demorados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9277806-6020-4450-B325-988A63539F26}"/>
              </a:ext>
            </a:extLst>
          </p:cNvPr>
          <p:cNvSpPr txBox="1"/>
          <p:nvPr/>
        </p:nvSpPr>
        <p:spPr>
          <a:xfrm>
            <a:off x="8429625" y="4284345"/>
            <a:ext cx="2667000" cy="365760"/>
          </a:xfrm>
        </p:spPr>
        <p:txBody>
          <a:bodyPr wrap="square" rtlCol="0" lIns="0" tIns="0" rIns="0" bIns="0" anchor="ctr"/>
          <a:lstStyle/>
          <a:p>
            <a:pPr algn="r"/>
            <a:r>
              <a:rPr sz="2400" b="1">
                <a:solidFill>
                  <a:srgbClr val="0A4EE4"/>
                </a:solidFill>
                <a:latin typeface="Verdana"/>
                <a:ea typeface="Verdana"/>
              </a:rPr>
              <a:t>9 %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7F68FDC-5A30-4A29-8258-37CC43795D4E}"/>
              </a:ext>
            </a:extLst>
          </p:cNvPr>
          <p:cNvSpPr txBox="1"/>
          <p:nvPr/>
        </p:nvSpPr>
        <p:spPr>
          <a:xfrm>
            <a:off x="6524625" y="5086350"/>
            <a:ext cx="1714500" cy="24765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Ticket promedio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883FE55D-4325-4D62-966E-A74270A934D9}"/>
              </a:ext>
            </a:extLst>
          </p:cNvPr>
          <p:cNvSpPr txBox="1"/>
          <p:nvPr/>
        </p:nvSpPr>
        <p:spPr>
          <a:xfrm>
            <a:off x="8429625" y="5027295"/>
            <a:ext cx="2667000" cy="365760"/>
          </a:xfrm>
        </p:spPr>
        <p:txBody>
          <a:bodyPr wrap="square" rtlCol="0" lIns="0" tIns="0" rIns="0" bIns="0" anchor="ctr"/>
          <a:lstStyle/>
          <a:p>
            <a:pPr algn="r"/>
            <a:r>
              <a:rPr sz="2400" b="1">
                <a:solidFill>
                  <a:srgbClr val="0A4EE4"/>
                </a:solidFill>
                <a:latin typeface="Verdana"/>
                <a:ea typeface="Verdana"/>
              </a:rPr>
              <a:t>R$ 133,5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B8D79EC3-D4B4-4208-80C5-9B1A7705C781}"/>
              </a:ext>
            </a:extLst>
          </p:cNvPr>
          <p:cNvSpPr/>
          <p:nvPr/>
        </p:nvSpPr>
        <p:spPr>
          <a:xfrm>
            <a:off x="5667375" y="3333750"/>
            <a:ext cx="857250" cy="857250"/>
          </a:xfrm>
          <a:prstGeom prst="ellipse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  <a:ea typeface="Verdana"/>
              </a:rPr>
              <a:t>VS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841B16B-63F4-49F2-963F-BC97440367DE}"/>
              </a:ext>
            </a:extLst>
          </p:cNvPr>
          <p:cNvSpPr txBox="1"/>
          <p:nvPr/>
        </p:nvSpPr>
        <p:spPr>
          <a:xfrm>
            <a:off x="666750" y="5924550"/>
            <a:ext cx="108585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1F4B"/>
                </a:solidFill>
                <a:latin typeface="Calibri"/>
                <a:ea typeface="Calibri"/>
              </a:rPr>
              <a:t>Gasta lo mismo o más, pero recibe un servicio peor. </a:t>
            </a: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Dentro del Sudeste también hay brechas: Río de Janeiro demora el 13 % y Espírito Santo el 12 %.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9D98BCF-9088-4D68-80D4-07654ADB27E1}"/>
              </a:ext>
            </a:extLst>
          </p:cNvPr>
          <p:cNvSpPr/>
          <p:nvPr/>
        </p:nvSpPr>
        <p:spPr>
          <a:xfrm>
            <a:off x="666750" y="419100"/>
            <a:ext cx="2667000" cy="3619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A4EE4"/>
                </a:solidFill>
                <a:latin typeface="Verdana"/>
                <a:ea typeface="Verdana"/>
              </a:rPr>
              <a:t>03 · ANÁLISIS EXPLORATORIO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8E6646D-EA2E-4002-83C2-EBB84314DAA4}"/>
              </a:ext>
            </a:extLst>
          </p:cNvPr>
          <p:cNvSpPr/>
          <p:nvPr/>
        </p:nvSpPr>
        <p:spPr>
          <a:xfrm>
            <a:off x="11239500" y="552450"/>
            <a:ext cx="133350" cy="13335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B33EA40-43F5-48D4-93E8-53EB486A8189}"/>
              </a:ext>
            </a:extLst>
          </p:cNvPr>
          <p:cNvSpPr txBox="1"/>
          <p:nvPr/>
        </p:nvSpPr>
        <p:spPr>
          <a:xfrm>
            <a:off x="666750" y="914400"/>
            <a:ext cx="95250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0B1F4B"/>
                </a:solidFill>
                <a:latin typeface="Verdana"/>
                <a:ea typeface="Verdana"/>
              </a:rPr>
              <a:t>NLP: las palabras de la queja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3F57B54-DE2A-42F0-A8FE-CEF7B5D08201}"/>
              </a:ext>
            </a:extLst>
          </p:cNvPr>
          <p:cNvSpPr/>
          <p:nvPr/>
        </p:nvSpPr>
        <p:spPr>
          <a:xfrm>
            <a:off x="666750" y="1666875"/>
            <a:ext cx="10858500" cy="342900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97564A8E-0750-41B5-90DE-7F2E7AA26D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81125" y="1828800"/>
            <a:ext cx="9429750" cy="311467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43F08772-26D2-48C0-B1E0-562AC31AD0E0}"/>
              </a:ext>
            </a:extLst>
          </p:cNvPr>
          <p:cNvSpPr txBox="1"/>
          <p:nvPr/>
        </p:nvSpPr>
        <p:spPr>
          <a:xfrm>
            <a:off x="1381125" y="5143500"/>
            <a:ext cx="952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A6C8C"/>
                </a:solidFill>
                <a:latin typeface="Calibri"/>
                <a:ea typeface="Calibri"/>
              </a:rPr>
              <a:t>Figura 10 · nubes de palabras de reseñas negativas (izquierda) y positivas (derecha), procesadas en portugués con NLTK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970D2A13-655C-4C9C-BE76-9F2B9C0ADCBA}"/>
              </a:ext>
            </a:extLst>
          </p:cNvPr>
          <p:cNvSpPr/>
          <p:nvPr/>
        </p:nvSpPr>
        <p:spPr>
          <a:xfrm>
            <a:off x="666750" y="5476875"/>
            <a:ext cx="6096000" cy="952500"/>
          </a:xfrm>
          <a:prstGeom prst="roundRect">
            <a:avLst/>
          </a:prstGeom>
          <a:solidFill>
            <a:srgbClr val="FFF6DE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B1F4B"/>
                </a:solidFill>
                <a:latin typeface="Verdana"/>
                <a:ea typeface="Verdana"/>
              </a:rPr>
              <a:t>Negativas: </a:t>
            </a:r>
            <a:r>
              <a:rPr sz="1600">
                <a:solidFill>
                  <a:srgbClr val="0A4EE4"/>
                </a:solidFill>
                <a:latin typeface="Verdana"/>
                <a:ea typeface="Verdana"/>
              </a:rPr>
              <a:t>não · recebi · entregue · prazo · chegou</a:t>
            </a:r>
          </a:p>
          <a:p>
            <a:pPr algn="ctr"/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todo el vocabulario es de entrega, no del producto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57B941B-B3DD-413D-9007-FEF04C169996}"/>
              </a:ext>
            </a:extLst>
          </p:cNvPr>
          <p:cNvSpPr/>
          <p:nvPr/>
        </p:nvSpPr>
        <p:spPr>
          <a:xfrm>
            <a:off x="6953250" y="5476875"/>
            <a:ext cx="4572000" cy="95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F5"/>
            </a:solidFill>
          </a:ln>
        </p:spPr>
        <p:txBody>
          <a:bodyPr wrap="square" rtlCol="0" lIns="0" tIns="0" rIns="0" bIns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B1F4B"/>
                </a:solidFill>
                <a:latin typeface="Verdana"/>
                <a:ea typeface="Verdana"/>
              </a:rPr>
              <a:t>Positivas: </a:t>
            </a:r>
            <a:r>
              <a:rPr sz="1600">
                <a:solidFill>
                  <a:srgbClr val="0A4EE4"/>
                </a:solidFill>
                <a:latin typeface="Verdana"/>
                <a:ea typeface="Verdana"/>
              </a:rPr>
              <a:t>excelente · qualidade · recomendo</a:t>
            </a:r>
          </a:p>
          <a:p>
            <a:pPr algn="ctr"/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evidencia cualitativa que refuerza los números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D68D0D67-CC56-4449-B12F-C8338A509BC5}"/>
              </a:ext>
            </a:extLst>
          </p:cNvPr>
          <p:cNvSpPr/>
          <p:nvPr/>
        </p:nvSpPr>
        <p:spPr>
          <a:xfrm>
            <a:off x="666750" y="419100"/>
            <a:ext cx="2667000" cy="3619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A4EE4"/>
                </a:solidFill>
                <a:latin typeface="Verdana"/>
                <a:ea typeface="Verdana"/>
              </a:rPr>
              <a:t>04 · CONTRASTE DE HIPÓTESIS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909A909-3553-4264-9648-2CEE755ADBAE}"/>
              </a:ext>
            </a:extLst>
          </p:cNvPr>
          <p:cNvSpPr/>
          <p:nvPr/>
        </p:nvSpPr>
        <p:spPr>
          <a:xfrm>
            <a:off x="11239500" y="552450"/>
            <a:ext cx="133350" cy="13335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05FD6A8-8B2E-4D5F-B3B5-A319616D273F}"/>
              </a:ext>
            </a:extLst>
          </p:cNvPr>
          <p:cNvSpPr txBox="1"/>
          <p:nvPr/>
        </p:nvSpPr>
        <p:spPr>
          <a:xfrm>
            <a:off x="666750" y="914400"/>
            <a:ext cx="85725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0B1F4B"/>
                </a:solidFill>
                <a:latin typeface="Verdana"/>
                <a:ea typeface="Verdana"/>
              </a:rPr>
              <a:t>Hipótesis planteadas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A55C85C-87EC-44D1-A90D-4822CEFD2DC3}"/>
              </a:ext>
            </a:extLst>
          </p:cNvPr>
          <p:cNvSpPr/>
          <p:nvPr/>
        </p:nvSpPr>
        <p:spPr>
          <a:xfrm>
            <a:off x="666750" y="1666875"/>
            <a:ext cx="5286375" cy="1762125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5ACD7DA-6520-48C8-BBD3-3A080E051E89}"/>
              </a:ext>
            </a:extLst>
          </p:cNvPr>
          <p:cNvSpPr/>
          <p:nvPr/>
        </p:nvSpPr>
        <p:spPr>
          <a:xfrm>
            <a:off x="895350" y="1876425"/>
            <a:ext cx="514350" cy="514350"/>
          </a:xfrm>
          <a:prstGeom prst="ellipse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</a:rPr>
              <a:t>H1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8D6AC33-0E52-4E37-ABF2-CB17E569B910}"/>
              </a:ext>
            </a:extLst>
          </p:cNvPr>
          <p:cNvSpPr txBox="1"/>
          <p:nvPr/>
        </p:nvSpPr>
        <p:spPr>
          <a:xfrm>
            <a:off x="1562100" y="1905000"/>
            <a:ext cx="41910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B1F4B"/>
                </a:solidFill>
                <a:latin typeface="Verdana"/>
                <a:ea typeface="Verdana"/>
              </a:rPr>
              <a:t>La demora reduce la satisfacción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9D519CF-EBA8-45C3-A802-B997D3E04336}"/>
              </a:ext>
            </a:extLst>
          </p:cNvPr>
          <p:cNvSpPr txBox="1"/>
          <p:nvPr/>
        </p:nvSpPr>
        <p:spPr>
          <a:xfrm>
            <a:off x="1562100" y="2457450"/>
            <a:ext cx="41910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Los pedidos entregados a tiempo reciben mejores calificaciones que los demorados.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E0A9CE67-0008-4C0D-8457-B0A3953BD340}"/>
              </a:ext>
            </a:extLst>
          </p:cNvPr>
          <p:cNvSpPr/>
          <p:nvPr/>
        </p:nvSpPr>
        <p:spPr>
          <a:xfrm>
            <a:off x="6238875" y="1666875"/>
            <a:ext cx="5286375" cy="1762125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9BD29A3F-1DA5-47E8-8FDD-B1A2B2C06BFA}"/>
              </a:ext>
            </a:extLst>
          </p:cNvPr>
          <p:cNvSpPr/>
          <p:nvPr/>
        </p:nvSpPr>
        <p:spPr>
          <a:xfrm>
            <a:off x="6467475" y="1876425"/>
            <a:ext cx="514350" cy="514350"/>
          </a:xfrm>
          <a:prstGeom prst="ellipse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</a:rPr>
              <a:t>H2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920C57E-4FF8-4E58-9B13-2A6F00ECF819}"/>
              </a:ext>
            </a:extLst>
          </p:cNvPr>
          <p:cNvSpPr txBox="1"/>
          <p:nvPr/>
        </p:nvSpPr>
        <p:spPr>
          <a:xfrm>
            <a:off x="7134225" y="1876425"/>
            <a:ext cx="41910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B1F4B"/>
                </a:solidFill>
                <a:latin typeface="Verdana"/>
                <a:ea typeface="Verdana"/>
              </a:rPr>
              <a:t>Las reseñas negativas hablan de demoras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1B7509B-262F-4CF0-9807-9659BC94A84C}"/>
              </a:ext>
            </a:extLst>
          </p:cNvPr>
          <p:cNvSpPr txBox="1"/>
          <p:nvPr/>
        </p:nvSpPr>
        <p:spPr>
          <a:xfrm>
            <a:off x="7134225" y="2619375"/>
            <a:ext cx="41910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El texto de las reseñas 1-2 estrellas menciona el plazo y la entrega.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99A8005E-ADAF-40AC-AC64-6B1AF0F6AB75}"/>
              </a:ext>
            </a:extLst>
          </p:cNvPr>
          <p:cNvSpPr/>
          <p:nvPr/>
        </p:nvSpPr>
        <p:spPr>
          <a:xfrm>
            <a:off x="666750" y="3571875"/>
            <a:ext cx="5286375" cy="1762125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649263A4-7255-40B0-A589-647CD70F5CFD}"/>
              </a:ext>
            </a:extLst>
          </p:cNvPr>
          <p:cNvSpPr/>
          <p:nvPr/>
        </p:nvSpPr>
        <p:spPr>
          <a:xfrm>
            <a:off x="895350" y="3781425"/>
            <a:ext cx="514350" cy="514350"/>
          </a:xfrm>
          <a:prstGeom prst="ellipse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</a:rPr>
              <a:t>H3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E652219-3104-4E88-9CF5-76711EE084E8}"/>
              </a:ext>
            </a:extLst>
          </p:cNvPr>
          <p:cNvSpPr txBox="1"/>
          <p:nvPr/>
        </p:nvSpPr>
        <p:spPr>
          <a:xfrm>
            <a:off x="1562100" y="3781425"/>
            <a:ext cx="41910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B1F4B"/>
                </a:solidFill>
                <a:latin typeface="Verdana"/>
                <a:ea typeface="Verdana"/>
              </a:rPr>
              <a:t>Fuera del Sudeste: más días y más flete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044815C-B3DC-4850-A823-45AE8DE9F7A2}"/>
              </a:ext>
            </a:extLst>
          </p:cNvPr>
          <p:cNvSpPr txBox="1"/>
          <p:nvPr/>
        </p:nvSpPr>
        <p:spPr>
          <a:xfrm>
            <a:off x="1562100" y="4524375"/>
            <a:ext cx="41910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La ventaja logística del Sudeste es real, no una diferencia debida al azar.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F65C9D5F-BE70-4B00-BA4E-B2C72187F228}"/>
              </a:ext>
            </a:extLst>
          </p:cNvPr>
          <p:cNvSpPr/>
          <p:nvPr/>
        </p:nvSpPr>
        <p:spPr>
          <a:xfrm>
            <a:off x="6238875" y="3571875"/>
            <a:ext cx="5286375" cy="1762125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3CBDA019-C493-41D0-8C4F-9E2EB73F0566}"/>
              </a:ext>
            </a:extLst>
          </p:cNvPr>
          <p:cNvSpPr/>
          <p:nvPr/>
        </p:nvSpPr>
        <p:spPr>
          <a:xfrm>
            <a:off x="6467475" y="3781425"/>
            <a:ext cx="514350" cy="514350"/>
          </a:xfrm>
          <a:prstGeom prst="ellipse">
            <a:avLst/>
          </a:prstGeom>
          <a:solidFill>
            <a:srgbClr val="FFB800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0B1F4B"/>
                </a:solidFill>
                <a:latin typeface="Verdana"/>
                <a:ea typeface="Verdana"/>
              </a:rPr>
              <a:t>H4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A42D9AA-E7DE-451A-8E45-5B0ADD0EFA7A}"/>
              </a:ext>
            </a:extLst>
          </p:cNvPr>
          <p:cNvSpPr txBox="1"/>
          <p:nvPr/>
        </p:nvSpPr>
        <p:spPr>
          <a:xfrm>
            <a:off x="7134225" y="3810000"/>
            <a:ext cx="41910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B1F4B"/>
                </a:solidFill>
                <a:latin typeface="Verdana"/>
                <a:ea typeface="Verdana"/>
              </a:rPr>
              <a:t>A mayor distancia, mayor tiempo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4792852-C6FA-4CA7-8F80-5E4CE095C37A}"/>
              </a:ext>
            </a:extLst>
          </p:cNvPr>
          <p:cNvSpPr txBox="1"/>
          <p:nvPr/>
        </p:nvSpPr>
        <p:spPr>
          <a:xfrm>
            <a:off x="7134225" y="4362450"/>
            <a:ext cx="41910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Hipótesis adicional: cada kilómetro extra se asocia a más días de espera.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3012EADC-DFEF-43EC-980C-0A6A2922320F}"/>
              </a:ext>
            </a:extLst>
          </p:cNvPr>
          <p:cNvSpPr/>
          <p:nvPr/>
        </p:nvSpPr>
        <p:spPr>
          <a:xfrm>
            <a:off x="666750" y="5524500"/>
            <a:ext cx="10858500" cy="762000"/>
          </a:xfrm>
          <a:prstGeom prst="roundRect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Método: Mann-Whitney U para comparar dos grupos · Spearman para correlación monótona · </a:t>
            </a:r>
            <a:r>
              <a:rPr sz="1400">
                <a:solidFill>
                  <a:srgbClr val="FFB800"/>
                </a:solidFill>
                <a:latin typeface="Calibri"/>
                <a:ea typeface="Calibri"/>
              </a:rPr>
              <a:t>no paramétricos, porque calificaciones y tiempos no cumplen normalidad · alfa = 0,05, una cola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DBE0F332-F816-4459-947B-965C1E9D5B81}"/>
              </a:ext>
            </a:extLst>
          </p:cNvPr>
          <p:cNvSpPr/>
          <p:nvPr/>
        </p:nvSpPr>
        <p:spPr>
          <a:xfrm>
            <a:off x="666750" y="419100"/>
            <a:ext cx="2667000" cy="3619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A4EE4"/>
                </a:solidFill>
                <a:latin typeface="Verdana"/>
                <a:ea typeface="Verdana"/>
              </a:rPr>
              <a:t>04 · CONTRASTE DE HIPÓTESIS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75B93C09-3E80-4957-90CA-5416D910442F}"/>
              </a:ext>
            </a:extLst>
          </p:cNvPr>
          <p:cNvSpPr/>
          <p:nvPr/>
        </p:nvSpPr>
        <p:spPr>
          <a:xfrm>
            <a:off x="11239500" y="552450"/>
            <a:ext cx="133350" cy="13335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5AEDDDF-0CC5-4603-A1F4-911E193E2F87}"/>
              </a:ext>
            </a:extLst>
          </p:cNvPr>
          <p:cNvSpPr txBox="1"/>
          <p:nvPr/>
        </p:nvSpPr>
        <p:spPr>
          <a:xfrm>
            <a:off x="666750" y="914400"/>
            <a:ext cx="95250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0B1F4B"/>
                </a:solidFill>
                <a:latin typeface="Verdana"/>
                <a:ea typeface="Verdana"/>
              </a:rPr>
              <a:t>Resultados: las cuatro se sostienen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9F85E8FF-59F7-4491-95E9-D6929EA715CD}"/>
              </a:ext>
            </a:extLst>
          </p:cNvPr>
          <p:cNvSpPr/>
          <p:nvPr/>
        </p:nvSpPr>
        <p:spPr>
          <a:xfrm>
            <a:off x="666750" y="1695450"/>
            <a:ext cx="10858500" cy="381000"/>
          </a:xfrm>
          <a:prstGeom prst="roundRect">
            <a:avLst/>
          </a:prstGeom>
          <a:solidFill>
            <a:srgbClr val="0A4EE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25F5618-A0F6-41F2-A619-F24002B2945E}"/>
              </a:ext>
            </a:extLst>
          </p:cNvPr>
          <p:cNvSpPr/>
          <p:nvPr/>
        </p:nvSpPr>
        <p:spPr>
          <a:xfrm>
            <a:off x="666750" y="2114550"/>
            <a:ext cx="10858500" cy="80010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932352A-9DE2-494C-BF1B-B3E3254E7AF7}"/>
              </a:ext>
            </a:extLst>
          </p:cNvPr>
          <p:cNvSpPr/>
          <p:nvPr/>
        </p:nvSpPr>
        <p:spPr>
          <a:xfrm>
            <a:off x="666750" y="2914650"/>
            <a:ext cx="10858500" cy="800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F5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627D1D6-0A51-4ACB-86CC-E80531BE0CF1}"/>
              </a:ext>
            </a:extLst>
          </p:cNvPr>
          <p:cNvSpPr/>
          <p:nvPr/>
        </p:nvSpPr>
        <p:spPr>
          <a:xfrm>
            <a:off x="666750" y="3714750"/>
            <a:ext cx="10858500" cy="80010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BC963891-9EFC-448D-B6A7-962DDA639901}"/>
              </a:ext>
            </a:extLst>
          </p:cNvPr>
          <p:cNvSpPr/>
          <p:nvPr/>
        </p:nvSpPr>
        <p:spPr>
          <a:xfrm>
            <a:off x="666750" y="4514850"/>
            <a:ext cx="10858500" cy="800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F5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ECAAF11-ED55-486C-BC84-1745AB8929DD}"/>
              </a:ext>
            </a:extLst>
          </p:cNvPr>
          <p:cNvSpPr/>
          <p:nvPr/>
        </p:nvSpPr>
        <p:spPr>
          <a:xfrm>
            <a:off x="9810750" y="2324100"/>
            <a:ext cx="1524000" cy="381000"/>
          </a:xfrm>
          <a:prstGeom prst="roundRect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</a:rPr>
              <a:t>Confirmada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9C471023-16F0-4971-85BE-8561F94C7E7F}"/>
              </a:ext>
            </a:extLst>
          </p:cNvPr>
          <p:cNvSpPr/>
          <p:nvPr/>
        </p:nvSpPr>
        <p:spPr>
          <a:xfrm>
            <a:off x="9810750" y="3124200"/>
            <a:ext cx="1524000" cy="381000"/>
          </a:xfrm>
          <a:prstGeom prst="roundRect">
            <a:avLst/>
          </a:prstGeom>
          <a:solidFill>
            <a:srgbClr val="FFB800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0B1F4B"/>
                </a:solidFill>
                <a:latin typeface="Verdana"/>
                <a:ea typeface="Verdana"/>
              </a:rPr>
              <a:t>Evidenciada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88AA9B50-5CB0-455B-BF62-9A453DC3C3E2}"/>
              </a:ext>
            </a:extLst>
          </p:cNvPr>
          <p:cNvSpPr/>
          <p:nvPr/>
        </p:nvSpPr>
        <p:spPr>
          <a:xfrm>
            <a:off x="9810750" y="3924300"/>
            <a:ext cx="1524000" cy="381000"/>
          </a:xfrm>
          <a:prstGeom prst="roundRect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</a:rPr>
              <a:t>Confirmada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A7B7E3D4-3A18-4E8C-AE02-742A113268EF}"/>
              </a:ext>
            </a:extLst>
          </p:cNvPr>
          <p:cNvSpPr/>
          <p:nvPr/>
        </p:nvSpPr>
        <p:spPr>
          <a:xfrm>
            <a:off x="9810750" y="4724400"/>
            <a:ext cx="1524000" cy="381000"/>
          </a:xfrm>
          <a:prstGeom prst="roundRect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</a:rPr>
              <a:t>Confirmada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98F024C-F0F3-49D1-BD45-216DD33FF857}"/>
              </a:ext>
            </a:extLst>
          </p:cNvPr>
          <p:cNvSpPr txBox="1"/>
          <p:nvPr/>
        </p:nvSpPr>
        <p:spPr>
          <a:xfrm>
            <a:off x="857250" y="1743075"/>
            <a:ext cx="38100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</a:rPr>
              <a:t>Hipótesis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4D1D18F-A4FF-48CC-9BFE-173E93FE32F5}"/>
              </a:ext>
            </a:extLst>
          </p:cNvPr>
          <p:cNvSpPr txBox="1"/>
          <p:nvPr/>
        </p:nvSpPr>
        <p:spPr>
          <a:xfrm>
            <a:off x="4953000" y="1743075"/>
            <a:ext cx="13335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</a:rPr>
              <a:t>Test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259FD97-3521-465C-A03D-9A7AB2FB0E89}"/>
              </a:ext>
            </a:extLst>
          </p:cNvPr>
          <p:cNvSpPr txBox="1"/>
          <p:nvPr/>
        </p:nvSpPr>
        <p:spPr>
          <a:xfrm>
            <a:off x="6572250" y="1743075"/>
            <a:ext cx="180975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</a:rPr>
              <a:t>Estadístico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431DA2D-EC4B-44C3-8DCB-1B3BEE176D83}"/>
              </a:ext>
            </a:extLst>
          </p:cNvPr>
          <p:cNvSpPr txBox="1"/>
          <p:nvPr/>
        </p:nvSpPr>
        <p:spPr>
          <a:xfrm>
            <a:off x="8572500" y="1743075"/>
            <a:ext cx="104775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</a:rPr>
              <a:t>p-valor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E682E3A-3414-402B-B603-B06E68298732}"/>
              </a:ext>
            </a:extLst>
          </p:cNvPr>
          <p:cNvSpPr txBox="1"/>
          <p:nvPr/>
        </p:nvSpPr>
        <p:spPr>
          <a:xfrm>
            <a:off x="857250" y="2247900"/>
            <a:ext cx="3810000" cy="533400"/>
          </a:xfrm>
        </p:spPr>
        <p:txBody>
          <a:bodyPr wrap="square" rtlCol="0" lIns="0" tIns="0" rIns="0" bIns="0" anchor="ctr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1F4B"/>
                </a:solidFill>
                <a:latin typeface="Verdana"/>
                <a:ea typeface="Verdana"/>
              </a:rPr>
              <a:t>H1 · La demora reduce la satisfacción</a:t>
            </a:r>
          </a:p>
          <a:p>
            <a:pPr algn="l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a tiempo vs. demorado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8F3364A-E73D-408C-893D-CE37A51931BC}"/>
              </a:ext>
            </a:extLst>
          </p:cNvPr>
          <p:cNvSpPr txBox="1"/>
          <p:nvPr/>
        </p:nvSpPr>
        <p:spPr>
          <a:xfrm>
            <a:off x="4953000" y="2266950"/>
            <a:ext cx="142875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0B1F4B"/>
                </a:solidFill>
                <a:latin typeface="Calibri"/>
                <a:ea typeface="Calibri"/>
              </a:rPr>
              <a:t>Mann-Whitney U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612A7F7-9010-4FA5-B93E-967630A37343}"/>
              </a:ext>
            </a:extLst>
          </p:cNvPr>
          <p:cNvSpPr txBox="1"/>
          <p:nvPr/>
        </p:nvSpPr>
        <p:spPr>
          <a:xfrm>
            <a:off x="6572250" y="2266950"/>
            <a:ext cx="190500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0A4EE4"/>
                </a:solidFill>
                <a:latin typeface="Verdana"/>
                <a:ea typeface="Verdana"/>
              </a:rPr>
              <a:t>U = 657.453.250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0C4F4FB-9690-44DE-AF37-10E9CAFFEA00}"/>
              </a:ext>
            </a:extLst>
          </p:cNvPr>
          <p:cNvSpPr txBox="1"/>
          <p:nvPr/>
        </p:nvSpPr>
        <p:spPr>
          <a:xfrm>
            <a:off x="8572500" y="2266950"/>
            <a:ext cx="95250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0B1F4B"/>
                </a:solidFill>
                <a:latin typeface="Verdana"/>
                <a:ea typeface="Verdana"/>
              </a:rPr>
              <a:t>≈ 0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8EBBE0E-6AD8-4C90-BF2A-EA30176A4F0B}"/>
              </a:ext>
            </a:extLst>
          </p:cNvPr>
          <p:cNvSpPr txBox="1"/>
          <p:nvPr/>
        </p:nvSpPr>
        <p:spPr>
          <a:xfrm>
            <a:off x="857250" y="3048000"/>
            <a:ext cx="3810000" cy="533400"/>
          </a:xfrm>
        </p:spPr>
        <p:txBody>
          <a:bodyPr wrap="square" rtlCol="0" lIns="0" tIns="0" rIns="0" bIns="0" anchor="ctr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1F4B"/>
                </a:solidFill>
                <a:latin typeface="Verdana"/>
                <a:ea typeface="Verdana"/>
              </a:rPr>
              <a:t>H2 · La queja habla de entrega</a:t>
            </a:r>
          </a:p>
          <a:p>
            <a:pPr algn="l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4,21 vs. 2,55 estrellas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AFA5C14-F503-40D5-98F4-60CB9FB5F9BF}"/>
              </a:ext>
            </a:extLst>
          </p:cNvPr>
          <p:cNvSpPr txBox="1"/>
          <p:nvPr/>
        </p:nvSpPr>
        <p:spPr>
          <a:xfrm>
            <a:off x="4953000" y="3067050"/>
            <a:ext cx="1428750" cy="49530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0B1F4B"/>
                </a:solidFill>
                <a:latin typeface="Calibri"/>
                <a:ea typeface="Calibri"/>
              </a:rPr>
              <a:t>Cualitativo (NLP)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94D76A0B-7DF3-41B8-81EF-325F7694BFCB}"/>
              </a:ext>
            </a:extLst>
          </p:cNvPr>
          <p:cNvSpPr txBox="1"/>
          <p:nvPr/>
        </p:nvSpPr>
        <p:spPr>
          <a:xfrm>
            <a:off x="6572250" y="3067050"/>
            <a:ext cx="1905000" cy="49530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A4EE4"/>
                </a:solidFill>
                <a:latin typeface="Calibri"/>
                <a:ea typeface="Calibri"/>
              </a:rPr>
              <a:t>prazo · entrega · chegou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65F5D4D-B380-4932-AF52-E0D1CB2C0EC3}"/>
              </a:ext>
            </a:extLst>
          </p:cNvPr>
          <p:cNvSpPr txBox="1"/>
          <p:nvPr/>
        </p:nvSpPr>
        <p:spPr>
          <a:xfrm>
            <a:off x="8572500" y="3067050"/>
            <a:ext cx="95250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1500">
                <a:solidFill>
                  <a:srgbClr val="5A6C8C"/>
                </a:solidFill>
                <a:latin typeface="Calibri"/>
                <a:ea typeface="Calibri"/>
              </a:rPr>
              <a:t>—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01DA9424-4F48-4905-9168-DC6A8D31A890}"/>
              </a:ext>
            </a:extLst>
          </p:cNvPr>
          <p:cNvSpPr txBox="1"/>
          <p:nvPr/>
        </p:nvSpPr>
        <p:spPr>
          <a:xfrm>
            <a:off x="857250" y="3776980"/>
            <a:ext cx="3810000" cy="675640"/>
          </a:xfrm>
        </p:spPr>
        <p:txBody>
          <a:bodyPr wrap="square" rtlCol="0" lIns="0" tIns="0" rIns="0" bIns="0" anchor="ctr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1F4B"/>
                </a:solidFill>
                <a:latin typeface="Verdana"/>
                <a:ea typeface="Verdana"/>
              </a:rPr>
              <a:t>H3 · Más días y flete fuera del Sudeste</a:t>
            </a:r>
          </a:p>
          <a:p>
            <a:pPr algn="l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Sudeste vs. resto del país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FA6577C1-A000-4374-BE28-00C49B1EFBE3}"/>
              </a:ext>
            </a:extLst>
          </p:cNvPr>
          <p:cNvSpPr txBox="1"/>
          <p:nvPr/>
        </p:nvSpPr>
        <p:spPr>
          <a:xfrm>
            <a:off x="4953000" y="3867150"/>
            <a:ext cx="142875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0B1F4B"/>
                </a:solidFill>
                <a:latin typeface="Calibri"/>
                <a:ea typeface="Calibri"/>
              </a:rPr>
              <a:t>Mann-Whitney U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531D923E-B8D3-4EE8-A2E8-4A85D482E80B}"/>
              </a:ext>
            </a:extLst>
          </p:cNvPr>
          <p:cNvSpPr txBox="1"/>
          <p:nvPr/>
        </p:nvSpPr>
        <p:spPr>
          <a:xfrm>
            <a:off x="6572250" y="3867150"/>
            <a:ext cx="190500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0A4EE4"/>
                </a:solidFill>
                <a:latin typeface="Verdana"/>
                <a:ea typeface="Verdana"/>
              </a:rPr>
              <a:t>10,2 vs. 15,9 días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9D7F45A5-9E61-4452-9FFD-B4FBBC64EEB6}"/>
              </a:ext>
            </a:extLst>
          </p:cNvPr>
          <p:cNvSpPr txBox="1"/>
          <p:nvPr/>
        </p:nvSpPr>
        <p:spPr>
          <a:xfrm>
            <a:off x="8572500" y="3867150"/>
            <a:ext cx="95250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0B1F4B"/>
                </a:solidFill>
                <a:latin typeface="Verdana"/>
                <a:ea typeface="Verdana"/>
              </a:rPr>
              <a:t>≈ 0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CD6DFFE-F0DC-4C30-A7BD-625D1C696B4C}"/>
              </a:ext>
            </a:extLst>
          </p:cNvPr>
          <p:cNvSpPr txBox="1"/>
          <p:nvPr/>
        </p:nvSpPr>
        <p:spPr>
          <a:xfrm>
            <a:off x="857250" y="4648200"/>
            <a:ext cx="3810000" cy="533400"/>
          </a:xfrm>
        </p:spPr>
        <p:txBody>
          <a:bodyPr wrap="square" rtlCol="0" lIns="0" tIns="0" rIns="0" bIns="0" anchor="ctr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1F4B"/>
                </a:solidFill>
                <a:latin typeface="Verdana"/>
                <a:ea typeface="Verdana"/>
              </a:rPr>
              <a:t>H4 · Más distancia, más tiempo</a:t>
            </a:r>
          </a:p>
          <a:p>
            <a:pPr algn="l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correlación monótona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B2CA5022-9695-4124-A81C-6AF34A7E65F8}"/>
              </a:ext>
            </a:extLst>
          </p:cNvPr>
          <p:cNvSpPr txBox="1"/>
          <p:nvPr/>
        </p:nvSpPr>
        <p:spPr>
          <a:xfrm>
            <a:off x="4953000" y="4667250"/>
            <a:ext cx="142875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0B1F4B"/>
                </a:solidFill>
                <a:latin typeface="Calibri"/>
                <a:ea typeface="Calibri"/>
              </a:rPr>
              <a:t>Spearman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4662F452-2992-45D8-ACF5-5A3ADFC9B7C1}"/>
              </a:ext>
            </a:extLst>
          </p:cNvPr>
          <p:cNvSpPr txBox="1"/>
          <p:nvPr/>
        </p:nvSpPr>
        <p:spPr>
          <a:xfrm>
            <a:off x="6572250" y="4667250"/>
            <a:ext cx="190500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0A4EE4"/>
                </a:solidFill>
                <a:latin typeface="Verdana"/>
                <a:ea typeface="Verdana"/>
              </a:rPr>
              <a:t>rho = 0,54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AE60281A-DF6D-4A9E-9BE6-20B3D288341B}"/>
              </a:ext>
            </a:extLst>
          </p:cNvPr>
          <p:cNvSpPr txBox="1"/>
          <p:nvPr/>
        </p:nvSpPr>
        <p:spPr>
          <a:xfrm>
            <a:off x="8572500" y="4667250"/>
            <a:ext cx="95250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0B1F4B"/>
                </a:solidFill>
                <a:latin typeface="Verdana"/>
                <a:ea typeface="Verdana"/>
              </a:rPr>
              <a:t>≈ 0</a:t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6C4C896C-B6CE-43A2-8FF3-63819F867B9C}"/>
              </a:ext>
            </a:extLst>
          </p:cNvPr>
          <p:cNvSpPr/>
          <p:nvPr/>
        </p:nvSpPr>
        <p:spPr>
          <a:xfrm>
            <a:off x="666750" y="5505450"/>
            <a:ext cx="10858500" cy="762000"/>
          </a:xfrm>
          <a:prstGeom prst="roundRect">
            <a:avLst/>
          </a:prstGeom>
          <a:solidFill>
            <a:srgbClr val="FFF6DE"/>
          </a:solidFill>
        </p:spPr>
        <p:txBody>
          <a:bodyPr wrap="square" rtlCol="0" lIns="0" tIns="0" rIns="0" bIns="0" anchor="ctr"/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0B1F4B"/>
                </a:solidFill>
                <a:latin typeface="Calibri"/>
                <a:ea typeface="Calibri"/>
              </a:rPr>
              <a:t>100.849 pedidos a tiempo (media 4,21) contra 8.520 demorados (media 2,55). </a:t>
            </a: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La distancia mediana entre cliente y vendedor es de 432 km: Brasil es grande y la logística lo siente.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EDA5A16-D2A8-44E4-B9DE-F9BF17332E74}"/>
              </a:ext>
            </a:extLst>
          </p:cNvPr>
          <p:cNvSpPr/>
          <p:nvPr/>
        </p:nvSpPr>
        <p:spPr>
          <a:xfrm>
            <a:off x="666750" y="419100"/>
            <a:ext cx="2667000" cy="3619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A4EE4"/>
                </a:solidFill>
                <a:latin typeface="Verdana"/>
                <a:ea typeface="Verdana"/>
              </a:rPr>
              <a:t>04 · CONTRASTE DE HIPÓTESIS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982FBE9-B348-4979-8DA0-5AB2BBCD711C}"/>
              </a:ext>
            </a:extLst>
          </p:cNvPr>
          <p:cNvSpPr/>
          <p:nvPr/>
        </p:nvSpPr>
        <p:spPr>
          <a:xfrm>
            <a:off x="11239500" y="552450"/>
            <a:ext cx="133350" cy="13335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5EAF57F-4B27-4EE7-B51E-2FDC01F2E1F0}"/>
              </a:ext>
            </a:extLst>
          </p:cNvPr>
          <p:cNvSpPr txBox="1"/>
          <p:nvPr/>
        </p:nvSpPr>
        <p:spPr>
          <a:xfrm>
            <a:off x="666750" y="914400"/>
            <a:ext cx="95250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0B1F4B"/>
                </a:solidFill>
                <a:latin typeface="Verdana"/>
                <a:ea typeface="Verdana"/>
              </a:rPr>
              <a:t>Limitaciones metodológicas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A62022E-0581-4AFC-8F1D-047764E6B401}"/>
              </a:ext>
            </a:extLst>
          </p:cNvPr>
          <p:cNvSpPr/>
          <p:nvPr/>
        </p:nvSpPr>
        <p:spPr>
          <a:xfrm>
            <a:off x="666750" y="1762125"/>
            <a:ext cx="10858500" cy="114300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DA23C1F0-82D0-43CF-BDFA-FBA8CD061649}"/>
              </a:ext>
            </a:extLst>
          </p:cNvPr>
          <p:cNvSpPr/>
          <p:nvPr/>
        </p:nvSpPr>
        <p:spPr>
          <a:xfrm>
            <a:off x="952500" y="2047875"/>
            <a:ext cx="571500" cy="571500"/>
          </a:xfrm>
          <a:prstGeom prst="ellipse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</a:rPr>
              <a:t>01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4996078-AE59-4849-91FB-174BB17560D9}"/>
              </a:ext>
            </a:extLst>
          </p:cNvPr>
          <p:cNvSpPr txBox="1"/>
          <p:nvPr/>
        </p:nvSpPr>
        <p:spPr>
          <a:xfrm>
            <a:off x="1762125" y="1913001"/>
            <a:ext cx="9334500" cy="841248"/>
          </a:xfrm>
        </p:spPr>
        <p:txBody>
          <a:bodyPr wrap="square" rtlCol="0" lIns="0" tIns="0" rIns="0" bIns="0" anchor="ctr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1F4B"/>
                </a:solidFill>
                <a:latin typeface="Verdana"/>
                <a:ea typeface="Verdana"/>
              </a:rPr>
              <a:t>Tests a nivel de ítem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Los ítems de un mismo pedido no son estrictamente independientes: es habitual en datos transaccionales y infla levemente la significación.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13AB2561-9ED1-4A47-AB1D-FA3DB263A42F}"/>
              </a:ext>
            </a:extLst>
          </p:cNvPr>
          <p:cNvSpPr/>
          <p:nvPr/>
        </p:nvSpPr>
        <p:spPr>
          <a:xfrm>
            <a:off x="666750" y="3095625"/>
            <a:ext cx="10858500" cy="114300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A5EF8C95-7876-412D-AEF0-A47683AD7D18}"/>
              </a:ext>
            </a:extLst>
          </p:cNvPr>
          <p:cNvSpPr/>
          <p:nvPr/>
        </p:nvSpPr>
        <p:spPr>
          <a:xfrm>
            <a:off x="952500" y="3381375"/>
            <a:ext cx="571500" cy="571500"/>
          </a:xfrm>
          <a:prstGeom prst="ellipse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</a:rPr>
              <a:t>02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7BD8EB9-9D59-4C5E-8A18-1B0BC98CC4BF}"/>
              </a:ext>
            </a:extLst>
          </p:cNvPr>
          <p:cNvSpPr txBox="1"/>
          <p:nvPr/>
        </p:nvSpPr>
        <p:spPr>
          <a:xfrm>
            <a:off x="1762125" y="3286125"/>
            <a:ext cx="9334500" cy="762000"/>
          </a:xfrm>
        </p:spPr>
        <p:txBody>
          <a:bodyPr wrap="square" rtlCol="0" lIns="0" tIns="0" rIns="0" bIns="0" anchor="ctr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1F4B"/>
                </a:solidFill>
                <a:latin typeface="Verdana"/>
                <a:ea typeface="Verdana"/>
              </a:rPr>
              <a:t>Es un snapshot 2016–2018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Los datos describen ese período: el operatorio del marketplace pudo cambiar desde entonces.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9ECF01FD-7490-4473-8A44-B6ED5B15313D}"/>
              </a:ext>
            </a:extLst>
          </p:cNvPr>
          <p:cNvSpPr/>
          <p:nvPr/>
        </p:nvSpPr>
        <p:spPr>
          <a:xfrm>
            <a:off x="666750" y="4429125"/>
            <a:ext cx="10858500" cy="114300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A8AD81F1-97AC-4948-9CF3-587758EBFB25}"/>
              </a:ext>
            </a:extLst>
          </p:cNvPr>
          <p:cNvSpPr/>
          <p:nvPr/>
        </p:nvSpPr>
        <p:spPr>
          <a:xfrm>
            <a:off x="952500" y="4714875"/>
            <a:ext cx="571500" cy="571500"/>
          </a:xfrm>
          <a:prstGeom prst="ellipse">
            <a:avLst/>
          </a:prstGeom>
          <a:solidFill>
            <a:srgbClr val="FFB800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0B1F4B"/>
                </a:solidFill>
                <a:latin typeface="Verdana"/>
                <a:ea typeface="Verdana"/>
              </a:rPr>
              <a:t>03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82588F3-6AA4-42DF-AF16-7B73DADB4413}"/>
              </a:ext>
            </a:extLst>
          </p:cNvPr>
          <p:cNvSpPr txBox="1"/>
          <p:nvPr/>
        </p:nvSpPr>
        <p:spPr>
          <a:xfrm>
            <a:off x="1762125" y="4619625"/>
            <a:ext cx="9334500" cy="762000"/>
          </a:xfrm>
        </p:spPr>
        <p:txBody>
          <a:bodyPr wrap="square" rtlCol="0" lIns="0" tIns="0" rIns="0" bIns="0" anchor="ctr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1F4B"/>
                </a:solidFill>
                <a:latin typeface="Verdana"/>
                <a:ea typeface="Verdana"/>
              </a:rPr>
              <a:t>H2 es cualitativa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No entrenamos un clasificador de sentimiento: la evidencia sobre el vocabulario de la queja es frecuencial (ranking de términos).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58B5F06-4C8B-49D5-8417-7E5D01761548}"/>
              </a:ext>
            </a:extLst>
          </p:cNvPr>
          <p:cNvSpPr txBox="1"/>
          <p:nvPr/>
        </p:nvSpPr>
        <p:spPr>
          <a:xfrm>
            <a:off x="666750" y="5810250"/>
            <a:ext cx="108585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400" i="1">
                <a:solidFill>
                  <a:srgbClr val="5A6C8C"/>
                </a:solidFill>
                <a:latin typeface="Calibri"/>
                <a:ea typeface="Calibri"/>
              </a:rPr>
              <a:t>Aun con esto, los hallazgos se apoyan en tamaños de efecto grandes: 1,7 estrellas de diferencia no se explica solo por el tamaño muestral.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4057D139-EB4C-4692-AAEA-0E43F0C5EDA0}"/>
              </a:ext>
            </a:extLst>
          </p:cNvPr>
          <p:cNvSpPr/>
          <p:nvPr/>
        </p:nvSpPr>
        <p:spPr>
          <a:xfrm>
            <a:off x="666750" y="419100"/>
            <a:ext cx="2095500" cy="3619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A4EE4"/>
                </a:solidFill>
                <a:latin typeface="Verdana"/>
                <a:ea typeface="Verdana"/>
              </a:rPr>
              <a:t>05 · MODELADO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43ABC88D-C2E8-44DC-94EF-1AAB8573D004}"/>
              </a:ext>
            </a:extLst>
          </p:cNvPr>
          <p:cNvSpPr/>
          <p:nvPr/>
        </p:nvSpPr>
        <p:spPr>
          <a:xfrm>
            <a:off x="11239500" y="552450"/>
            <a:ext cx="133350" cy="13335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6CDD154-A2E5-4B77-B443-5D565E001688}"/>
              </a:ext>
            </a:extLst>
          </p:cNvPr>
          <p:cNvSpPr txBox="1"/>
          <p:nvPr/>
        </p:nvSpPr>
        <p:spPr>
          <a:xfrm>
            <a:off x="666750" y="933450"/>
            <a:ext cx="10477500" cy="79248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0B1F4B"/>
                </a:solidFill>
                <a:latin typeface="Verdana"/>
                <a:ea typeface="Verdana"/>
              </a:rPr>
              <a:t>¿Se puede anticipar una mala reseña antes de la entrega?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CF12061-D531-484C-958E-3C4473B7EE52}"/>
              </a:ext>
            </a:extLst>
          </p:cNvPr>
          <p:cNvSpPr/>
          <p:nvPr/>
        </p:nvSpPr>
        <p:spPr>
          <a:xfrm>
            <a:off x="666750" y="1619250"/>
            <a:ext cx="4000500" cy="25717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D413FC1-1798-4424-99CE-E73CB93B927C}"/>
              </a:ext>
            </a:extLst>
          </p:cNvPr>
          <p:cNvSpPr txBox="1"/>
          <p:nvPr/>
        </p:nvSpPr>
        <p:spPr>
          <a:xfrm>
            <a:off x="952500" y="1857375"/>
            <a:ext cx="3429000" cy="213614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B1F4B"/>
                </a:solidFill>
                <a:latin typeface="Verdana"/>
                <a:ea typeface="Verdana"/>
              </a:rPr>
              <a:t>Qué se sabe al comprar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· precio, flete y su ratio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· distancia cliente-vendedor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· categoría del producto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· medio de pago y cuotas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· mes de compra</a:t>
            </a:r>
          </a:p>
          <a:p>
            <a:pPr algn="l"/>
            <a:r>
              <a:rPr sz="1400" b="1">
                <a:solidFill>
                  <a:srgbClr val="0A4EE4"/>
                </a:solidFill>
                <a:latin typeface="Calibri"/>
                <a:ea typeface="Calibri"/>
              </a:rPr>
              <a:t>· historial del vendedor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9C49846-2AD7-4A81-946A-9A071AF3FFDA}"/>
              </a:ext>
            </a:extLst>
          </p:cNvPr>
          <p:cNvSpPr/>
          <p:nvPr/>
        </p:nvSpPr>
        <p:spPr>
          <a:xfrm>
            <a:off x="4762500" y="2714625"/>
            <a:ext cx="666750" cy="428625"/>
          </a:xfrm>
          <a:prstGeom prst="rightArrow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9EB32263-E535-4AB8-B203-C4FEC2D3342C}"/>
              </a:ext>
            </a:extLst>
          </p:cNvPr>
          <p:cNvSpPr/>
          <p:nvPr/>
        </p:nvSpPr>
        <p:spPr>
          <a:xfrm>
            <a:off x="5524500" y="1952625"/>
            <a:ext cx="2857500" cy="1905000"/>
          </a:xfrm>
          <a:prstGeom prst="roundRect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Verdana"/>
                <a:ea typeface="Verdana"/>
              </a:rPr>
              <a:t>LightGBM</a:t>
            </a:r>
          </a:p>
          <a:p>
            <a:pPr algn="ctr">
              <a:spcAft>
                <a:spcPts val="400"/>
              </a:spcAft>
            </a:pPr>
            <a:r>
              <a:rPr sz="1300">
                <a:solidFill>
                  <a:srgbClr val="DCE7FF"/>
                </a:solidFill>
                <a:latin typeface="Calibri"/>
                <a:ea typeface="Calibri"/>
              </a:rPr>
              <a:t>300 árboles · 31 hojas</a:t>
            </a:r>
          </a:p>
          <a:p>
            <a:pPr algn="ctr">
              <a:spcAft>
                <a:spcPts val="400"/>
              </a:spcAft>
            </a:pPr>
            <a:r>
              <a:rPr sz="1300">
                <a:solidFill>
                  <a:srgbClr val="DCE7FF"/>
                </a:solidFill>
                <a:latin typeface="Calibri"/>
                <a:ea typeface="Calibri"/>
              </a:rPr>
              <a:t>learning rate 0,05</a:t>
            </a:r>
          </a:p>
          <a:p>
            <a:pPr algn="ctr"/>
            <a:r>
              <a:rPr sz="1300">
                <a:solidFill>
                  <a:srgbClr val="FFB800"/>
                </a:solidFill>
                <a:latin typeface="Calibri"/>
                <a:ea typeface="Calibri"/>
              </a:rPr>
              <a:t>class_weight balanced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37F5C62F-5B39-4296-9548-CB0DFEB5FF89}"/>
              </a:ext>
            </a:extLst>
          </p:cNvPr>
          <p:cNvSpPr/>
          <p:nvPr/>
        </p:nvSpPr>
        <p:spPr>
          <a:xfrm>
            <a:off x="8477250" y="2714625"/>
            <a:ext cx="666750" cy="428625"/>
          </a:xfrm>
          <a:prstGeom prst="rightArrow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CEFC967-94CE-494F-BD0B-8CCA7ACA65C1}"/>
              </a:ext>
            </a:extLst>
          </p:cNvPr>
          <p:cNvSpPr/>
          <p:nvPr/>
        </p:nvSpPr>
        <p:spPr>
          <a:xfrm>
            <a:off x="9239250" y="1952625"/>
            <a:ext cx="2286000" cy="1905000"/>
          </a:xfrm>
          <a:prstGeom prst="roundRect">
            <a:avLst/>
          </a:prstGeom>
          <a:solidFill>
            <a:srgbClr val="FFF6DE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0B1F4B"/>
                </a:solidFill>
                <a:latin typeface="Verdana"/>
                <a:ea typeface="Verdana"/>
              </a:rPr>
              <a:t>Riesgo de</a:t>
            </a:r>
          </a:p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0B1F4B"/>
                </a:solidFill>
                <a:latin typeface="Verdana"/>
                <a:ea typeface="Verdana"/>
              </a:rPr>
              <a:t>reseña negativa</a:t>
            </a:r>
          </a:p>
          <a:p>
            <a:pPr algn="ctr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una probabilidad</a:t>
            </a:r>
          </a:p>
          <a:p>
            <a:pPr algn="ctr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por pedido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BF3B615D-904D-466E-B625-95CAEBF7928F}"/>
              </a:ext>
            </a:extLst>
          </p:cNvPr>
          <p:cNvSpPr/>
          <p:nvPr/>
        </p:nvSpPr>
        <p:spPr>
          <a:xfrm>
            <a:off x="666750" y="4429125"/>
            <a:ext cx="3429000" cy="95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F5"/>
            </a:solidFill>
          </a:ln>
        </p:spPr>
        <p:txBody>
          <a:bodyPr wrap="square" rtlCol="0" lIns="0" tIns="0" rIns="0" bIns="0" anchor="ctr"/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0A4EE4"/>
                </a:solidFill>
                <a:latin typeface="Verdana"/>
                <a:ea typeface="Verdana"/>
              </a:rPr>
              <a:t>117</a:t>
            </a:r>
          </a:p>
          <a:p>
            <a:pPr algn="ctr"/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variables en 5 bloques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542525F5-1057-44C8-B74D-B8A74164C8DB}"/>
              </a:ext>
            </a:extLst>
          </p:cNvPr>
          <p:cNvSpPr/>
          <p:nvPr/>
        </p:nvSpPr>
        <p:spPr>
          <a:xfrm>
            <a:off x="4381500" y="4429125"/>
            <a:ext cx="3429000" cy="95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F5"/>
            </a:solidFill>
          </a:ln>
        </p:spPr>
        <p:txBody>
          <a:bodyPr wrap="square" rtlCol="0" lIns="0" tIns="0" rIns="0" bIns="0" anchor="ctr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A4EE4"/>
                </a:solidFill>
                <a:latin typeface="Verdana"/>
                <a:ea typeface="Verdana"/>
              </a:rPr>
              <a:t>76.749 / 25.584</a:t>
            </a:r>
          </a:p>
          <a:p>
            <a:pPr algn="ctr"/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train / test, split estratificado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FF9C267D-CAE8-4296-BC58-9E0A509408CA}"/>
              </a:ext>
            </a:extLst>
          </p:cNvPr>
          <p:cNvSpPr/>
          <p:nvPr/>
        </p:nvSpPr>
        <p:spPr>
          <a:xfrm>
            <a:off x="8096250" y="4429125"/>
            <a:ext cx="3429000" cy="95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F5"/>
            </a:solidFill>
          </a:ln>
        </p:spPr>
        <p:txBody>
          <a:bodyPr wrap="square" rtlCol="0" lIns="0" tIns="0" rIns="0" bIns="0" anchor="ctr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A4EE4"/>
                </a:solidFill>
                <a:latin typeface="Verdana"/>
                <a:ea typeface="Verdana"/>
              </a:rPr>
              <a:t>82 % / 18 %</a:t>
            </a:r>
          </a:p>
          <a:p>
            <a:pPr algn="ctr"/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positivas / negativas: desbalance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6D4E8001-CE23-4ED2-ACBC-73C1B8FF5146}"/>
              </a:ext>
            </a:extLst>
          </p:cNvPr>
          <p:cNvSpPr/>
          <p:nvPr/>
        </p:nvSpPr>
        <p:spPr>
          <a:xfrm>
            <a:off x="666750" y="5619750"/>
            <a:ext cx="10858500" cy="762000"/>
          </a:xfrm>
          <a:prstGeom prst="roundRect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</a:rPr>
              <a:t>Sin fuga de información: </a:t>
            </a:r>
            <a:r>
              <a:rPr sz="1500">
                <a:solidFill>
                  <a:srgbClr val="FFB800"/>
                </a:solidFill>
                <a:latin typeface="Calibri"/>
                <a:ea typeface="Calibri"/>
              </a:rPr>
              <a:t>excluimos la demora real, el texto y la calificación. El historial del vendedor se calcula solo con datos de entrenamiento.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275D411-DF59-484E-A57B-5520CCA588DD}"/>
              </a:ext>
            </a:extLst>
          </p:cNvPr>
          <p:cNvSpPr/>
          <p:nvPr/>
        </p:nvSpPr>
        <p:spPr>
          <a:xfrm>
            <a:off x="666750" y="419100"/>
            <a:ext cx="2095500" cy="3619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A4EE4"/>
                </a:solidFill>
                <a:latin typeface="Verdana"/>
                <a:ea typeface="Verdana"/>
              </a:rPr>
              <a:t>05 · MODELADO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391CC90-BEDD-4728-86E3-5E3ED3F1C3E4}"/>
              </a:ext>
            </a:extLst>
          </p:cNvPr>
          <p:cNvSpPr/>
          <p:nvPr/>
        </p:nvSpPr>
        <p:spPr>
          <a:xfrm>
            <a:off x="11239500" y="552450"/>
            <a:ext cx="133350" cy="13335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A6D5E66-EAD2-41F1-BBAC-16E32FFC1020}"/>
              </a:ext>
            </a:extLst>
          </p:cNvPr>
          <p:cNvSpPr txBox="1"/>
          <p:nvPr/>
        </p:nvSpPr>
        <p:spPr>
          <a:xfrm>
            <a:off x="666750" y="914400"/>
            <a:ext cx="95250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0B1F4B"/>
                </a:solidFill>
                <a:latin typeface="Verdana"/>
                <a:ea typeface="Verdana"/>
              </a:rPr>
              <a:t>Resultados del clasificador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DDCA829-2AA9-4C62-9556-458414AABF6A}"/>
              </a:ext>
            </a:extLst>
          </p:cNvPr>
          <p:cNvSpPr/>
          <p:nvPr/>
        </p:nvSpPr>
        <p:spPr>
          <a:xfrm>
            <a:off x="666750" y="1666875"/>
            <a:ext cx="4476750" cy="419100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554F8153-5055-48AF-A52A-DDEA264C94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57250" y="1809750"/>
            <a:ext cx="4095750" cy="364807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621004CC-56C4-435C-B390-01084891FAFE}"/>
              </a:ext>
            </a:extLst>
          </p:cNvPr>
          <p:cNvSpPr txBox="1"/>
          <p:nvPr/>
        </p:nvSpPr>
        <p:spPr>
          <a:xfrm>
            <a:off x="857250" y="5524500"/>
            <a:ext cx="409575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A6C8C"/>
                </a:solidFill>
                <a:latin typeface="Calibri"/>
                <a:ea typeface="Calibri"/>
              </a:rPr>
              <a:t>Figura 11 · curva ROC en el conjunto de prueba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C59E4BE-463C-4417-BD7A-C3721506D6D2}"/>
              </a:ext>
            </a:extLst>
          </p:cNvPr>
          <p:cNvSpPr/>
          <p:nvPr/>
        </p:nvSpPr>
        <p:spPr>
          <a:xfrm>
            <a:off x="5524500" y="1666875"/>
            <a:ext cx="2905125" cy="1190625"/>
          </a:xfrm>
          <a:prstGeom prst="roundRect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Verdana"/>
                <a:ea typeface="Verdana"/>
              </a:rPr>
              <a:t>0,718</a:t>
            </a:r>
          </a:p>
          <a:p>
            <a:pPr algn="ctr"/>
            <a:r>
              <a:rPr sz="1300">
                <a:solidFill>
                  <a:srgbClr val="DCE7FF"/>
                </a:solidFill>
                <a:latin typeface="Calibri"/>
                <a:ea typeface="Calibri"/>
              </a:rPr>
              <a:t>AUC · separa mejor que el azar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29962F7E-AD94-40E4-8CE1-152499312B48}"/>
              </a:ext>
            </a:extLst>
          </p:cNvPr>
          <p:cNvSpPr/>
          <p:nvPr/>
        </p:nvSpPr>
        <p:spPr>
          <a:xfrm>
            <a:off x="8620125" y="1666875"/>
            <a:ext cx="2905125" cy="1190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F5"/>
            </a:solidFill>
          </a:ln>
        </p:spPr>
        <p:txBody>
          <a:bodyPr wrap="square" rtlCol="0" lIns="0" tIns="0" rIns="0" bIns="0" anchor="ctr"/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0A4EE4"/>
                </a:solidFill>
                <a:latin typeface="Verdana"/>
                <a:ea typeface="Verdana"/>
              </a:rPr>
              <a:t>0,618</a:t>
            </a:r>
          </a:p>
          <a:p>
            <a:pPr algn="ctr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F1 macro · pesa igual a las dos clases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779B509-5841-4EF3-87AF-E0C875671EF3}"/>
              </a:ext>
            </a:extLst>
          </p:cNvPr>
          <p:cNvSpPr/>
          <p:nvPr/>
        </p:nvSpPr>
        <p:spPr>
          <a:xfrm>
            <a:off x="5524500" y="3000375"/>
            <a:ext cx="2905125" cy="1190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F5"/>
            </a:solidFill>
          </a:ln>
        </p:spPr>
        <p:txBody>
          <a:bodyPr wrap="square" rtlCol="0" lIns="0" tIns="0" rIns="0" bIns="0" anchor="ctr"/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0A4EE4"/>
                </a:solidFill>
                <a:latin typeface="Verdana"/>
                <a:ea typeface="Verdana"/>
              </a:rPr>
              <a:t>0,718</a:t>
            </a:r>
          </a:p>
          <a:p>
            <a:pPr algn="ctr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accuracy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71991ECF-504A-47A2-8D3E-575337F213B2}"/>
              </a:ext>
            </a:extLst>
          </p:cNvPr>
          <p:cNvSpPr/>
          <p:nvPr/>
        </p:nvSpPr>
        <p:spPr>
          <a:xfrm>
            <a:off x="8620125" y="3000375"/>
            <a:ext cx="2905125" cy="1190625"/>
          </a:xfrm>
          <a:prstGeom prst="roundRect">
            <a:avLst/>
          </a:prstGeom>
          <a:solidFill>
            <a:srgbClr val="FFF6DE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0B1F4B"/>
                </a:solidFill>
                <a:latin typeface="Verdana"/>
                <a:ea typeface="Verdana"/>
              </a:rPr>
              <a:t>59 %</a:t>
            </a:r>
          </a:p>
          <a:p>
            <a:pPr algn="ctr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de las negativas detectadas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25A75541-FC8A-446B-81CD-77EAE506A155}"/>
              </a:ext>
            </a:extLst>
          </p:cNvPr>
          <p:cNvSpPr/>
          <p:nvPr/>
        </p:nvSpPr>
        <p:spPr>
          <a:xfrm>
            <a:off x="5524500" y="4333875"/>
            <a:ext cx="6000750" cy="1524000"/>
          </a:xfrm>
          <a:prstGeom prst="roundRect">
            <a:avLst/>
          </a:prstGeom>
          <a:solidFill>
            <a:srgbClr val="FFF6DE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0B1F4B"/>
                </a:solidFill>
                <a:latin typeface="Verdana"/>
                <a:ea typeface="Verdana"/>
              </a:rPr>
              <a:t>Modesto pero legítimo</a:t>
            </a:r>
          </a:p>
          <a:p>
            <a:pPr algn="ctr">
              <a:lnSpc>
                <a:spcPct val="118000"/>
              </a:lnSpc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El factor que más pesa en la reseña —si el envío llegó tarde— todavía no ocurrió cuando hay que decidir. Aun así el modelo prioriza bien, y preferimos alertar de más a dejar pasar los pedidos que terminan mal.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5D4CBCB-EE79-4D64-B766-D3A1A270E7BA}"/>
              </a:ext>
            </a:extLst>
          </p:cNvPr>
          <p:cNvSpPr/>
          <p:nvPr/>
        </p:nvSpPr>
        <p:spPr>
          <a:xfrm>
            <a:off x="666750" y="419100"/>
            <a:ext cx="2095500" cy="3619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A4EE4"/>
                </a:solidFill>
                <a:latin typeface="Verdana"/>
                <a:ea typeface="Verdana"/>
              </a:rPr>
              <a:t>05 · MODELADO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BD875C4-F86C-47B1-BCAC-B8748CB09D56}"/>
              </a:ext>
            </a:extLst>
          </p:cNvPr>
          <p:cNvSpPr/>
          <p:nvPr/>
        </p:nvSpPr>
        <p:spPr>
          <a:xfrm>
            <a:off x="11239500" y="552450"/>
            <a:ext cx="133350" cy="13335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F5704FE-C10A-4CA2-A26B-4799F8B0D375}"/>
              </a:ext>
            </a:extLst>
          </p:cNvPr>
          <p:cNvSpPr txBox="1"/>
          <p:nvPr/>
        </p:nvSpPr>
        <p:spPr>
          <a:xfrm>
            <a:off x="666750" y="914400"/>
            <a:ext cx="95250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0B1F4B"/>
                </a:solidFill>
                <a:latin typeface="Verdana"/>
                <a:ea typeface="Verdana"/>
              </a:rPr>
              <a:t>¿Qué mira el modelo?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1798C46-1906-4E18-9857-1181DDC610BC}"/>
              </a:ext>
            </a:extLst>
          </p:cNvPr>
          <p:cNvSpPr/>
          <p:nvPr/>
        </p:nvSpPr>
        <p:spPr>
          <a:xfrm>
            <a:off x="666750" y="1666875"/>
            <a:ext cx="7239000" cy="40957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5DAE9B2-8865-4A5E-AE97-68FDA972C5D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43000" y="1733550"/>
            <a:ext cx="6286500" cy="368617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737E77A4-6458-4AFD-9F61-7C5A420A6A88}"/>
              </a:ext>
            </a:extLst>
          </p:cNvPr>
          <p:cNvSpPr txBox="1"/>
          <p:nvPr/>
        </p:nvSpPr>
        <p:spPr>
          <a:xfrm>
            <a:off x="1143000" y="5448300"/>
            <a:ext cx="6286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A6C8C"/>
                </a:solidFill>
                <a:latin typeface="Calibri"/>
                <a:ea typeface="Calibri"/>
              </a:rPr>
              <a:t>Figura 13 · las quince variables más influyentes (por cantidad de divisiones)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4EDACFB-FDFD-4E28-A0C9-5872B94AA700}"/>
              </a:ext>
            </a:extLst>
          </p:cNvPr>
          <p:cNvSpPr/>
          <p:nvPr/>
        </p:nvSpPr>
        <p:spPr>
          <a:xfrm>
            <a:off x="8286750" y="1666875"/>
            <a:ext cx="3238500" cy="1666875"/>
          </a:xfrm>
          <a:prstGeom prst="roundRect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B800"/>
                </a:solidFill>
                <a:latin typeface="Verdana"/>
                <a:ea typeface="Verdana"/>
              </a:rPr>
              <a:t>TOP 1</a:t>
            </a:r>
          </a:p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reseña histórica promedio del vendedor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3D3DD791-21DD-4FB0-8B0C-11606A8D9D7A}"/>
              </a:ext>
            </a:extLst>
          </p:cNvPr>
          <p:cNvSpPr/>
          <p:nvPr/>
        </p:nvSpPr>
        <p:spPr>
          <a:xfrm>
            <a:off x="8286750" y="3476625"/>
            <a:ext cx="32385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F5"/>
            </a:solidFill>
          </a:ln>
        </p:spPr>
        <p:txBody>
          <a:bodyPr wrap="square" rtlCol="0" lIns="0" tIns="0" rIns="0" bIns="0" anchor="ctr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B1F4B"/>
                </a:solidFill>
                <a:latin typeface="Verdana"/>
                <a:ea typeface="Verdana"/>
              </a:rPr>
              <a:t>Y después, en orden:</a:t>
            </a:r>
          </a:p>
          <a:p>
            <a:pPr algn="ctr">
              <a:lnSpc>
                <a:spcPct val="120000"/>
              </a:lnSpc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distancia · flete · mes de compra · ratio flete/precio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25FDEE2A-4BB6-4B30-8F9A-0815114E674F}"/>
              </a:ext>
            </a:extLst>
          </p:cNvPr>
          <p:cNvSpPr/>
          <p:nvPr/>
        </p:nvSpPr>
        <p:spPr>
          <a:xfrm>
            <a:off x="8286750" y="4953000"/>
            <a:ext cx="3238500" cy="809625"/>
          </a:xfrm>
          <a:prstGeom prst="roundRect">
            <a:avLst/>
          </a:prstGeom>
          <a:solidFill>
            <a:srgbClr val="FFF6DE"/>
          </a:solidFill>
        </p:spPr>
        <p:txBody>
          <a:bodyPr wrap="square" rtlCol="0" lIns="0" tIns="0" rIns="0" bIns="0" anchor="ctr"/>
          <a:lstStyle/>
          <a:p>
            <a:pPr algn="ctr">
              <a:lnSpc>
                <a:spcPct val="118000"/>
              </a:lnSpc>
            </a:pPr>
            <a:r>
              <a:rPr sz="1400">
                <a:solidFill>
                  <a:srgbClr val="0B1F4B"/>
                </a:solidFill>
                <a:latin typeface="Calibri"/>
                <a:ea typeface="Calibri"/>
              </a:rPr>
              <a:t>Las 4 variables de historial del vendedor entran en el top 15.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9C4C6B6-B910-4FE5-9790-77DF090BB53B}"/>
              </a:ext>
            </a:extLst>
          </p:cNvPr>
          <p:cNvSpPr txBox="1"/>
          <p:nvPr/>
        </p:nvSpPr>
        <p:spPr>
          <a:xfrm>
            <a:off x="666750" y="6000750"/>
            <a:ext cx="7239000" cy="5257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A4EE4"/>
                </a:solidFill>
                <a:latin typeface="Calibri"/>
                <a:ea typeface="Calibri"/>
              </a:rPr>
              <a:t>El mejor predictor de si un cliente quedará conforme es cómo quedaron los clientes anteriores de ese mismo vendedor.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7FD3970A-1548-44D9-93D4-B335FAF20195}"/>
              </a:ext>
            </a:extLst>
          </p:cNvPr>
          <p:cNvSpPr/>
          <p:nvPr/>
        </p:nvSpPr>
        <p:spPr>
          <a:xfrm>
            <a:off x="666750" y="419100"/>
            <a:ext cx="2095500" cy="3619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A4EE4"/>
                </a:solidFill>
                <a:latin typeface="Verdana"/>
                <a:ea typeface="Verdana"/>
              </a:rPr>
              <a:t>05 · MODELADO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5823B4B-C206-4876-91E9-5645FF8D0400}"/>
              </a:ext>
            </a:extLst>
          </p:cNvPr>
          <p:cNvSpPr/>
          <p:nvPr/>
        </p:nvSpPr>
        <p:spPr>
          <a:xfrm>
            <a:off x="11239500" y="552450"/>
            <a:ext cx="133350" cy="13335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DE41969-A8E3-4480-AC01-28629881F5EF}"/>
              </a:ext>
            </a:extLst>
          </p:cNvPr>
          <p:cNvSpPr txBox="1"/>
          <p:nvPr/>
        </p:nvSpPr>
        <p:spPr>
          <a:xfrm>
            <a:off x="666750" y="914400"/>
            <a:ext cx="95250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0B1F4B"/>
                </a:solidFill>
                <a:latin typeface="Verdana"/>
                <a:ea typeface="Verdana"/>
              </a:rPr>
              <a:t>Valor operativo: curva de captura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1DDD54D-67B5-4A54-81B5-F3C2C63080E5}"/>
              </a:ext>
            </a:extLst>
          </p:cNvPr>
          <p:cNvSpPr/>
          <p:nvPr/>
        </p:nvSpPr>
        <p:spPr>
          <a:xfrm>
            <a:off x="666750" y="1666875"/>
            <a:ext cx="5905500" cy="40957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E9665B72-E28F-4258-9BC4-96964964729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38250" y="1762125"/>
            <a:ext cx="4762500" cy="35909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6B67B484-DE2E-48E8-98B0-B10F3BF33A0E}"/>
              </a:ext>
            </a:extLst>
          </p:cNvPr>
          <p:cNvSpPr txBox="1"/>
          <p:nvPr/>
        </p:nvSpPr>
        <p:spPr>
          <a:xfrm>
            <a:off x="1238250" y="5429250"/>
            <a:ext cx="4762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A6C8C"/>
                </a:solidFill>
                <a:latin typeface="Calibri"/>
                <a:ea typeface="Calibri"/>
              </a:rPr>
              <a:t>Figura 14 · reseñas negativas detectadas al priorizar por riesgo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CB2B2AFB-FAF7-460D-AF06-298F6706EED9}"/>
              </a:ext>
            </a:extLst>
          </p:cNvPr>
          <p:cNvSpPr/>
          <p:nvPr/>
        </p:nvSpPr>
        <p:spPr>
          <a:xfrm>
            <a:off x="6858000" y="1666875"/>
            <a:ext cx="4667250" cy="1047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F5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BB4008F1-1C96-4F2B-A618-D69C7E6FB540}"/>
              </a:ext>
            </a:extLst>
          </p:cNvPr>
          <p:cNvSpPr/>
          <p:nvPr/>
        </p:nvSpPr>
        <p:spPr>
          <a:xfrm>
            <a:off x="8286750" y="2219325"/>
            <a:ext cx="3048000" cy="133350"/>
          </a:xfrm>
          <a:prstGeom prst="rect">
            <a:avLst/>
          </a:prstGeom>
          <a:solidFill>
            <a:srgbClr val="D5E0F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78CB9E7-229A-4EE5-B4F1-9A8E7D630767}"/>
              </a:ext>
            </a:extLst>
          </p:cNvPr>
          <p:cNvSpPr/>
          <p:nvPr/>
        </p:nvSpPr>
        <p:spPr>
          <a:xfrm>
            <a:off x="8286750" y="2219325"/>
            <a:ext cx="942975" cy="133350"/>
          </a:xfrm>
          <a:prstGeom prst="rect">
            <a:avLst/>
          </a:prstGeom>
          <a:solidFill>
            <a:srgbClr val="0A4EE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7C07B183-2065-4DEF-9E43-633E4662674E}"/>
              </a:ext>
            </a:extLst>
          </p:cNvPr>
          <p:cNvSpPr/>
          <p:nvPr/>
        </p:nvSpPr>
        <p:spPr>
          <a:xfrm>
            <a:off x="6858000" y="2857500"/>
            <a:ext cx="4667250" cy="1047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F5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2F05D7CE-EE37-4EBF-A28D-F71557E96C64}"/>
              </a:ext>
            </a:extLst>
          </p:cNvPr>
          <p:cNvSpPr/>
          <p:nvPr/>
        </p:nvSpPr>
        <p:spPr>
          <a:xfrm>
            <a:off x="8286750" y="3409950"/>
            <a:ext cx="3048000" cy="133350"/>
          </a:xfrm>
          <a:prstGeom prst="rect">
            <a:avLst/>
          </a:prstGeom>
          <a:solidFill>
            <a:srgbClr val="D5E0F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E7960B43-AF6A-43D0-8833-8798C9E9DB8B}"/>
              </a:ext>
            </a:extLst>
          </p:cNvPr>
          <p:cNvSpPr/>
          <p:nvPr/>
        </p:nvSpPr>
        <p:spPr>
          <a:xfrm>
            <a:off x="8286750" y="3409950"/>
            <a:ext cx="1428750" cy="133350"/>
          </a:xfrm>
          <a:prstGeom prst="rect">
            <a:avLst/>
          </a:prstGeom>
          <a:solidFill>
            <a:srgbClr val="0A4EE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0DD4F0F2-EA5A-4381-A0D1-08F549570F50}"/>
              </a:ext>
            </a:extLst>
          </p:cNvPr>
          <p:cNvSpPr/>
          <p:nvPr/>
        </p:nvSpPr>
        <p:spPr>
          <a:xfrm>
            <a:off x="6858000" y="4048125"/>
            <a:ext cx="4667250" cy="1047750"/>
          </a:xfrm>
          <a:prstGeom prst="roundRect">
            <a:avLst/>
          </a:prstGeom>
          <a:solidFill>
            <a:srgbClr val="FFF6D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572FF1E7-9EC4-45A1-8710-5C2A2168CF50}"/>
              </a:ext>
            </a:extLst>
          </p:cNvPr>
          <p:cNvSpPr/>
          <p:nvPr/>
        </p:nvSpPr>
        <p:spPr>
          <a:xfrm>
            <a:off x="8286750" y="4600575"/>
            <a:ext cx="3048000" cy="133350"/>
          </a:xfrm>
          <a:prstGeom prst="rect">
            <a:avLst/>
          </a:prstGeom>
          <a:solidFill>
            <a:srgbClr val="D5E0F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D21CA5BD-F940-493B-8B1F-50EF8F6EF3CE}"/>
              </a:ext>
            </a:extLst>
          </p:cNvPr>
          <p:cNvSpPr/>
          <p:nvPr/>
        </p:nvSpPr>
        <p:spPr>
          <a:xfrm>
            <a:off x="8286750" y="4600575"/>
            <a:ext cx="1733550" cy="133350"/>
          </a:xfrm>
          <a:prstGeom prst="rect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59CEF01-E102-4798-90CE-4127DD492A06}"/>
              </a:ext>
            </a:extLst>
          </p:cNvPr>
          <p:cNvSpPr txBox="1"/>
          <p:nvPr/>
        </p:nvSpPr>
        <p:spPr>
          <a:xfrm>
            <a:off x="7096125" y="1811655"/>
            <a:ext cx="1047750" cy="396240"/>
          </a:xfrm>
        </p:spPr>
        <p:txBody>
          <a:bodyPr wrap="square" rtlCol="0" lIns="0" tIns="0" rIns="0" bIns="0" anchor="ctr"/>
          <a:lstStyle/>
          <a:p>
            <a:pPr algn="l"/>
            <a:r>
              <a:rPr sz="2600" b="1">
                <a:solidFill>
                  <a:srgbClr val="0A4EE4"/>
                </a:solidFill>
                <a:latin typeface="Verdana"/>
                <a:ea typeface="Verdana"/>
              </a:rPr>
              <a:t>10 %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A8708E9-516A-45F0-A2A8-CDFE22A39F70}"/>
              </a:ext>
            </a:extLst>
          </p:cNvPr>
          <p:cNvSpPr txBox="1"/>
          <p:nvPr/>
        </p:nvSpPr>
        <p:spPr>
          <a:xfrm>
            <a:off x="8286750" y="1819275"/>
            <a:ext cx="30480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600" b="1">
                <a:solidFill>
                  <a:srgbClr val="0B1F4B"/>
                </a:solidFill>
                <a:latin typeface="Verdana"/>
                <a:ea typeface="Verdana"/>
              </a:rPr>
              <a:t>31 % de las negativas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F7E3BAC-7ADC-4DE1-9F33-6B3D79553F1B}"/>
              </a:ext>
            </a:extLst>
          </p:cNvPr>
          <p:cNvSpPr txBox="1"/>
          <p:nvPr/>
        </p:nvSpPr>
        <p:spPr>
          <a:xfrm>
            <a:off x="7096125" y="3002280"/>
            <a:ext cx="1047750" cy="396240"/>
          </a:xfrm>
        </p:spPr>
        <p:txBody>
          <a:bodyPr wrap="square" rtlCol="0" lIns="0" tIns="0" rIns="0" bIns="0" anchor="ctr"/>
          <a:lstStyle/>
          <a:p>
            <a:pPr algn="l"/>
            <a:r>
              <a:rPr sz="2600" b="1">
                <a:solidFill>
                  <a:srgbClr val="0A4EE4"/>
                </a:solidFill>
                <a:latin typeface="Verdana"/>
                <a:ea typeface="Verdana"/>
              </a:rPr>
              <a:t>20 %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A1653E8-96D6-4C39-A99A-264E84543FCC}"/>
              </a:ext>
            </a:extLst>
          </p:cNvPr>
          <p:cNvSpPr txBox="1"/>
          <p:nvPr/>
        </p:nvSpPr>
        <p:spPr>
          <a:xfrm>
            <a:off x="8286750" y="3009900"/>
            <a:ext cx="30480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600" b="1">
                <a:solidFill>
                  <a:srgbClr val="0B1F4B"/>
                </a:solidFill>
                <a:latin typeface="Verdana"/>
                <a:ea typeface="Verdana"/>
              </a:rPr>
              <a:t>47 % de las negativas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A35099D-2AA3-4E40-89EA-95EA2FA71435}"/>
              </a:ext>
            </a:extLst>
          </p:cNvPr>
          <p:cNvSpPr txBox="1"/>
          <p:nvPr/>
        </p:nvSpPr>
        <p:spPr>
          <a:xfrm>
            <a:off x="7096125" y="4192905"/>
            <a:ext cx="1047750" cy="396240"/>
          </a:xfrm>
        </p:spPr>
        <p:txBody>
          <a:bodyPr wrap="square" rtlCol="0" lIns="0" tIns="0" rIns="0" bIns="0" anchor="ctr"/>
          <a:lstStyle/>
          <a:p>
            <a:pPr algn="l"/>
            <a:r>
              <a:rPr sz="2600" b="1">
                <a:solidFill>
                  <a:srgbClr val="0A4EE4"/>
                </a:solidFill>
                <a:latin typeface="Verdana"/>
                <a:ea typeface="Verdana"/>
              </a:rPr>
              <a:t>30 %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C145AF6-69E7-4E51-8A3B-707281ABB978}"/>
              </a:ext>
            </a:extLst>
          </p:cNvPr>
          <p:cNvSpPr txBox="1"/>
          <p:nvPr/>
        </p:nvSpPr>
        <p:spPr>
          <a:xfrm>
            <a:off x="8286750" y="4200525"/>
            <a:ext cx="30480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600" b="1">
                <a:solidFill>
                  <a:srgbClr val="0B1F4B"/>
                </a:solidFill>
                <a:latin typeface="Verdana"/>
                <a:ea typeface="Verdana"/>
              </a:rPr>
              <a:t>57 % de las negativas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0FEEC7D1-5D4A-4B8D-AD5D-983DB9116F81}"/>
              </a:ext>
            </a:extLst>
          </p:cNvPr>
          <p:cNvSpPr txBox="1"/>
          <p:nvPr/>
        </p:nvSpPr>
        <p:spPr>
          <a:xfrm>
            <a:off x="8286750" y="2457450"/>
            <a:ext cx="19050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de los pedidos revisados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CB2D55F-858D-4BF5-B6B8-D279735B2349}"/>
              </a:ext>
            </a:extLst>
          </p:cNvPr>
          <p:cNvSpPr txBox="1"/>
          <p:nvPr/>
        </p:nvSpPr>
        <p:spPr>
          <a:xfrm>
            <a:off x="8286750" y="3648075"/>
            <a:ext cx="19050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de los pedidos revisados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AA2ACCF-49DE-4E2F-9E70-942EA0D8E13F}"/>
              </a:ext>
            </a:extLst>
          </p:cNvPr>
          <p:cNvSpPr txBox="1"/>
          <p:nvPr/>
        </p:nvSpPr>
        <p:spPr>
          <a:xfrm>
            <a:off x="8286750" y="4838700"/>
            <a:ext cx="19050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5A6C8C"/>
                </a:solidFill>
                <a:latin typeface="Calibri"/>
                <a:ea typeface="Calibri"/>
              </a:rPr>
              <a:t>de los pedidos revisados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226E66A6-C0D5-4F85-A03A-CADA58A49E7F}"/>
              </a:ext>
            </a:extLst>
          </p:cNvPr>
          <p:cNvSpPr/>
          <p:nvPr/>
        </p:nvSpPr>
        <p:spPr>
          <a:xfrm>
            <a:off x="6858000" y="5238750"/>
            <a:ext cx="4667250" cy="809625"/>
          </a:xfrm>
          <a:prstGeom prst="roundRect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</a:rPr>
              <a:t>Sistema de alerta temprana: </a:t>
            </a:r>
            <a:r>
              <a:rPr sz="1500">
                <a:solidFill>
                  <a:srgbClr val="FFB800"/>
                </a:solidFill>
                <a:latin typeface="Calibri"/>
                <a:ea typeface="Calibri"/>
              </a:rPr>
              <a:t>contactando al 20 % de mayor riesgo se cubre casi la mitad de las experiencias negativas antes de que la reseña esté escrita.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3C0C47BF-6E96-4A13-8E1B-799008C691E9}"/>
              </a:ext>
            </a:extLst>
          </p:cNvPr>
          <p:cNvSpPr/>
          <p:nvPr/>
        </p:nvSpPr>
        <p:spPr>
          <a:xfrm>
            <a:off x="666750" y="419100"/>
            <a:ext cx="2476500" cy="3619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A4EE4"/>
                </a:solidFill>
                <a:latin typeface="Verdana"/>
                <a:ea typeface="Verdana"/>
              </a:rPr>
              <a:t>06 · SEGMENTACIÓN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2ED20E4-E6FF-4D76-8BED-508612DC829E}"/>
              </a:ext>
            </a:extLst>
          </p:cNvPr>
          <p:cNvSpPr/>
          <p:nvPr/>
        </p:nvSpPr>
        <p:spPr>
          <a:xfrm>
            <a:off x="11239500" y="552450"/>
            <a:ext cx="133350" cy="13335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E977DF5-8FC1-4D31-BEBA-9256AB2F6035}"/>
              </a:ext>
            </a:extLst>
          </p:cNvPr>
          <p:cNvSpPr txBox="1"/>
          <p:nvPr/>
        </p:nvSpPr>
        <p:spPr>
          <a:xfrm>
            <a:off x="666750" y="914400"/>
            <a:ext cx="95250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0B1F4B"/>
                </a:solidFill>
                <a:latin typeface="Verdana"/>
                <a:ea typeface="Verdana"/>
              </a:rPr>
              <a:t>Modelo 2: segmentación de vendedores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CB0EEC5-3A53-4659-B94A-546875F6B144}"/>
              </a:ext>
            </a:extLst>
          </p:cNvPr>
          <p:cNvSpPr/>
          <p:nvPr/>
        </p:nvSpPr>
        <p:spPr>
          <a:xfrm>
            <a:off x="666750" y="1666875"/>
            <a:ext cx="4476750" cy="25717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9101B08E-26C8-4A61-9352-1102A5CF22C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57250" y="1809750"/>
            <a:ext cx="4095750" cy="23336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AFD9A0-C9DA-420F-8DF2-726D046C1E2B}"/>
              </a:ext>
            </a:extLst>
          </p:cNvPr>
          <p:cNvSpPr txBox="1"/>
          <p:nvPr/>
        </p:nvSpPr>
        <p:spPr>
          <a:xfrm>
            <a:off x="857250" y="4305300"/>
            <a:ext cx="409575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A6C8C"/>
                </a:solidFill>
                <a:latin typeface="Calibri"/>
                <a:ea typeface="Calibri"/>
              </a:rPr>
              <a:t>Figura 15 · método del codo e índice de silueta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74C4B508-AB84-4A5C-A950-0A22C8909492}"/>
              </a:ext>
            </a:extLst>
          </p:cNvPr>
          <p:cNvSpPr/>
          <p:nvPr/>
        </p:nvSpPr>
        <p:spPr>
          <a:xfrm>
            <a:off x="666750" y="4714875"/>
            <a:ext cx="4476750" cy="1047750"/>
          </a:xfrm>
          <a:prstGeom prst="roundRect">
            <a:avLst/>
          </a:prstGeom>
          <a:solidFill>
            <a:srgbClr val="FFF6DE"/>
          </a:solidFill>
        </p:spPr>
        <p:txBody>
          <a:bodyPr wrap="square" rtlCol="0" lIns="0" tIns="0" rIns="0" bIns="0" anchor="ctr"/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0B1F4B"/>
                </a:solidFill>
                <a:latin typeface="Calibri"/>
                <a:ea typeface="Calibri"/>
              </a:rPr>
              <a:t>K-Means con 8 variables de perfil · k = 3 elegido por interpretabilidad · silueta ≈ 0,18, habitual en datos de negocio reales.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A134634D-5153-45B7-A3F4-D6AA33DA4B06}"/>
              </a:ext>
            </a:extLst>
          </p:cNvPr>
          <p:cNvSpPr/>
          <p:nvPr/>
        </p:nvSpPr>
        <p:spPr>
          <a:xfrm>
            <a:off x="5524500" y="1666875"/>
            <a:ext cx="6000750" cy="133350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8029C3E1-28D2-44A3-988C-87FC31A5265B}"/>
              </a:ext>
            </a:extLst>
          </p:cNvPr>
          <p:cNvSpPr/>
          <p:nvPr/>
        </p:nvSpPr>
        <p:spPr>
          <a:xfrm>
            <a:off x="5715000" y="1952625"/>
            <a:ext cx="762000" cy="762000"/>
          </a:xfrm>
          <a:prstGeom prst="ellipse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</a:rPr>
              <a:t>58 %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5E45AF9-47B2-48E6-9231-6B753DB73741}"/>
              </a:ext>
            </a:extLst>
          </p:cNvPr>
          <p:cNvSpPr txBox="1"/>
          <p:nvPr/>
        </p:nvSpPr>
        <p:spPr>
          <a:xfrm>
            <a:off x="6667500" y="1905000"/>
            <a:ext cx="4762500" cy="857250"/>
          </a:xfrm>
        </p:spPr>
        <p:txBody>
          <a:bodyPr wrap="square" rtlCol="0" lIns="0" tIns="0" rIns="0" bIns="0" anchor="ctr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1F4B"/>
                </a:solidFill>
                <a:latin typeface="Verdana"/>
                <a:ea typeface="Verdana"/>
              </a:rPr>
              <a:t>Ágiles de bajo volumen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1.704 vendedores · 9,5 días de entrega · 4 % demorado · reseña 4,25 · 7 pedidos en promedio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7E9DABE8-09F5-4CAB-A469-4B698974E978}"/>
              </a:ext>
            </a:extLst>
          </p:cNvPr>
          <p:cNvSpPr/>
          <p:nvPr/>
        </p:nvSpPr>
        <p:spPr>
          <a:xfrm>
            <a:off x="5524500" y="3143250"/>
            <a:ext cx="6000750" cy="133350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864F1B25-8B2B-4CD9-A9BF-ED14B5173A5E}"/>
              </a:ext>
            </a:extLst>
          </p:cNvPr>
          <p:cNvSpPr/>
          <p:nvPr/>
        </p:nvSpPr>
        <p:spPr>
          <a:xfrm>
            <a:off x="5715000" y="3429000"/>
            <a:ext cx="762000" cy="762000"/>
          </a:xfrm>
          <a:prstGeom prst="ellipse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</a:rPr>
              <a:t>27 %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A4B885D-5881-46B0-96FE-616FAEB79F21}"/>
              </a:ext>
            </a:extLst>
          </p:cNvPr>
          <p:cNvSpPr txBox="1"/>
          <p:nvPr/>
        </p:nvSpPr>
        <p:spPr>
          <a:xfrm>
            <a:off x="6667500" y="3381375"/>
            <a:ext cx="4762500" cy="857250"/>
          </a:xfrm>
        </p:spPr>
        <p:txBody>
          <a:bodyPr wrap="square" rtlCol="0" lIns="0" tIns="0" rIns="0" bIns="0" anchor="ctr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1F4B"/>
                </a:solidFill>
                <a:latin typeface="Verdana"/>
                <a:ea typeface="Verdana"/>
              </a:rPr>
              <a:t>Consolidados de alto volumen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795 vendedores · 11,8 días · 8 % demorado · reseña 4,05 · 107 pedidos: mueven el 85 % de los ítems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DA698790-6223-43D6-8AE3-36D4D9BFBFC4}"/>
              </a:ext>
            </a:extLst>
          </p:cNvPr>
          <p:cNvSpPr/>
          <p:nvPr/>
        </p:nvSpPr>
        <p:spPr>
          <a:xfrm>
            <a:off x="5524500" y="4619625"/>
            <a:ext cx="6000750" cy="1333500"/>
          </a:xfrm>
          <a:prstGeom prst="roundRect">
            <a:avLst/>
          </a:prstGeom>
          <a:solidFill>
            <a:srgbClr val="FFF6D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3C9A917C-205B-4773-84EA-EDC19C5191B3}"/>
              </a:ext>
            </a:extLst>
          </p:cNvPr>
          <p:cNvSpPr/>
          <p:nvPr/>
        </p:nvSpPr>
        <p:spPr>
          <a:xfrm>
            <a:off x="5715000" y="4905375"/>
            <a:ext cx="762000" cy="762000"/>
          </a:xfrm>
          <a:prstGeom prst="ellipse">
            <a:avLst/>
          </a:prstGeom>
          <a:solidFill>
            <a:srgbClr val="FFB800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0B1F4B"/>
                </a:solidFill>
                <a:latin typeface="Verdana"/>
                <a:ea typeface="Verdana"/>
              </a:rPr>
              <a:t>16 %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BB5274F-1F3A-44FF-81BE-3C860E3B246C}"/>
              </a:ext>
            </a:extLst>
          </p:cNvPr>
          <p:cNvSpPr txBox="1"/>
          <p:nvPr/>
        </p:nvSpPr>
        <p:spPr>
          <a:xfrm>
            <a:off x="6667500" y="4857750"/>
            <a:ext cx="4762500" cy="857250"/>
          </a:xfrm>
        </p:spPr>
        <p:txBody>
          <a:bodyPr wrap="square" rtlCol="0" lIns="0" tIns="0" rIns="0" bIns="0" anchor="ctr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1F4B"/>
                </a:solidFill>
                <a:latin typeface="Verdana"/>
                <a:ea typeface="Verdana"/>
              </a:rPr>
              <a:t>Rezagados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461 vendedores · 19,6 días · 24 % demorado · reseña 3,48 · 7 pedidos: solo el 3 % de los ítems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D6DC88DC-1B13-4725-8748-04E360DABFD0}"/>
              </a:ext>
            </a:extLst>
          </p:cNvPr>
          <p:cNvSpPr/>
          <p:nvPr/>
        </p:nvSpPr>
        <p:spPr>
          <a:xfrm>
            <a:off x="666750" y="419100"/>
            <a:ext cx="2476500" cy="3619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A4EE4"/>
                </a:solidFill>
                <a:latin typeface="Verdana"/>
                <a:ea typeface="Verdana"/>
              </a:rPr>
              <a:t>06 · SEGMENTACIÓN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D05C19F-6BC6-4906-88D5-9A23F8947286}"/>
              </a:ext>
            </a:extLst>
          </p:cNvPr>
          <p:cNvSpPr/>
          <p:nvPr/>
        </p:nvSpPr>
        <p:spPr>
          <a:xfrm>
            <a:off x="11239500" y="552450"/>
            <a:ext cx="133350" cy="13335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BB2D89E-88BD-4D51-812E-73806C296BAD}"/>
              </a:ext>
            </a:extLst>
          </p:cNvPr>
          <p:cNvSpPr txBox="1"/>
          <p:nvPr/>
        </p:nvSpPr>
        <p:spPr>
          <a:xfrm>
            <a:off x="666750" y="914400"/>
            <a:ext cx="95250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0B1F4B"/>
                </a:solidFill>
                <a:latin typeface="Verdana"/>
                <a:ea typeface="Verdana"/>
              </a:rPr>
              <a:t>Los rezagados: el grupo de riesgo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D213598-CC47-4C5E-83BB-C4D4B822191E}"/>
              </a:ext>
            </a:extLst>
          </p:cNvPr>
          <p:cNvSpPr/>
          <p:nvPr/>
        </p:nvSpPr>
        <p:spPr>
          <a:xfrm>
            <a:off x="666750" y="1619250"/>
            <a:ext cx="5334000" cy="361950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E99DF0B2-1E55-4BE5-8779-45771CA91D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57250" y="1809750"/>
            <a:ext cx="4953000" cy="277177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A6B0ACB9-BC51-42A7-8E5C-B08AD1BCBC78}"/>
              </a:ext>
            </a:extLst>
          </p:cNvPr>
          <p:cNvSpPr txBox="1"/>
          <p:nvPr/>
        </p:nvSpPr>
        <p:spPr>
          <a:xfrm>
            <a:off x="857250" y="4714875"/>
            <a:ext cx="4762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A6C8C"/>
                </a:solidFill>
                <a:latin typeface="Calibri"/>
                <a:ea typeface="Calibri"/>
              </a:rPr>
              <a:t>Figura 16 · indicadores clave por segmento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56EE347D-8734-4DBA-B211-A17C1FC3BC96}"/>
              </a:ext>
            </a:extLst>
          </p:cNvPr>
          <p:cNvSpPr/>
          <p:nvPr/>
        </p:nvSpPr>
        <p:spPr>
          <a:xfrm>
            <a:off x="6191250" y="1619250"/>
            <a:ext cx="5334000" cy="361950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B4329DC7-15BB-4644-B3E6-48143D6B396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0" y="1809750"/>
            <a:ext cx="4000500" cy="2771775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53DCC1E2-96D4-486E-BA96-385012BFA440}"/>
              </a:ext>
            </a:extLst>
          </p:cNvPr>
          <p:cNvSpPr txBox="1"/>
          <p:nvPr/>
        </p:nvSpPr>
        <p:spPr>
          <a:xfrm>
            <a:off x="6381750" y="4714875"/>
            <a:ext cx="4953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A6C8C"/>
                </a:solidFill>
                <a:latin typeface="Calibri"/>
                <a:ea typeface="Calibri"/>
              </a:rPr>
              <a:t>Figura 17 · vendedores según tiempo de entrega y demora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00856028-F5EE-4133-BA38-B1C74E064961}"/>
              </a:ext>
            </a:extLst>
          </p:cNvPr>
          <p:cNvSpPr/>
          <p:nvPr/>
        </p:nvSpPr>
        <p:spPr>
          <a:xfrm>
            <a:off x="666750" y="5429250"/>
            <a:ext cx="10858500" cy="1047750"/>
          </a:xfrm>
          <a:prstGeom prst="roundRect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B800"/>
                </a:solidFill>
                <a:latin typeface="Verdana"/>
                <a:ea typeface="Verdana"/>
              </a:rPr>
              <a:t>461 vendedores concentran el riesgo</a:t>
            </a:r>
          </a:p>
          <a:p>
            <a:pPr algn="ctr">
              <a:lnSpc>
                <a:spcPct val="118000"/>
              </a:lnSpc>
            </a:pPr>
            <a:r>
              <a:rPr sz="1500">
                <a:solidFill>
                  <a:srgbClr val="DCE7FF"/>
                </a:solidFill>
                <a:latin typeface="Calibri"/>
                <a:ea typeface="Calibri"/>
              </a:rPr>
              <a:t>No son los que más venden: volumen bajo, pero 24 % de demora contra el 4 % de los Ágiles. Son pocos, identificables y el primer lugar donde intervenir.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BBC42EC8-2102-42E6-BEDA-34F0E85E4E55}"/>
              </a:ext>
            </a:extLst>
          </p:cNvPr>
          <p:cNvSpPr/>
          <p:nvPr/>
        </p:nvSpPr>
        <p:spPr>
          <a:xfrm>
            <a:off x="666750" y="419100"/>
            <a:ext cx="2095500" cy="3619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A4EE4"/>
                </a:solidFill>
                <a:latin typeface="Verdana"/>
                <a:ea typeface="Verdana"/>
              </a:rPr>
              <a:t>07 · CIERRE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2FDB1D5-6BF7-44A3-83D7-C60CD5177645}"/>
              </a:ext>
            </a:extLst>
          </p:cNvPr>
          <p:cNvSpPr/>
          <p:nvPr/>
        </p:nvSpPr>
        <p:spPr>
          <a:xfrm>
            <a:off x="11239500" y="552450"/>
            <a:ext cx="133350" cy="13335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32ABAF3-3991-4125-8C22-93B106DB0DA8}"/>
              </a:ext>
            </a:extLst>
          </p:cNvPr>
          <p:cNvSpPr txBox="1"/>
          <p:nvPr/>
        </p:nvSpPr>
        <p:spPr>
          <a:xfrm>
            <a:off x="666750" y="914400"/>
            <a:ext cx="95250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0B1F4B"/>
                </a:solidFill>
                <a:latin typeface="Verdana"/>
                <a:ea typeface="Verdana"/>
              </a:rPr>
              <a:t>Oportunidades de negocio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7F08954-7567-48D4-A8D2-D53B533F91E4}"/>
              </a:ext>
            </a:extLst>
          </p:cNvPr>
          <p:cNvSpPr/>
          <p:nvPr/>
        </p:nvSpPr>
        <p:spPr>
          <a:xfrm>
            <a:off x="666750" y="1666875"/>
            <a:ext cx="5286375" cy="20002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06A37658-9F14-49EF-9945-49BAC92252FC}"/>
              </a:ext>
            </a:extLst>
          </p:cNvPr>
          <p:cNvSpPr/>
          <p:nvPr/>
        </p:nvSpPr>
        <p:spPr>
          <a:xfrm>
            <a:off x="895350" y="1895475"/>
            <a:ext cx="533400" cy="533400"/>
          </a:xfrm>
          <a:prstGeom prst="ellipse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Verdana"/>
                <a:ea typeface="Verdana"/>
              </a:rPr>
              <a:t>01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D038E6B-E8A6-4949-BE7B-266966C0B53E}"/>
              </a:ext>
            </a:extLst>
          </p:cNvPr>
          <p:cNvSpPr txBox="1"/>
          <p:nvPr/>
        </p:nvSpPr>
        <p:spPr>
          <a:xfrm>
            <a:off x="895350" y="2552700"/>
            <a:ext cx="4572000" cy="12382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B1F4B"/>
                </a:solidFill>
                <a:latin typeface="Verdana"/>
                <a:ea typeface="Verdana"/>
              </a:rPr>
              <a:t>Alerta temprana</a:t>
            </a:r>
          </a:p>
          <a:p>
            <a:pPr algn="l">
              <a:lnSpc>
                <a:spcPct val="118000"/>
              </a:lnSpc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Usar el modelo para priorizar y contactar al 20 % de pedidos de mayor riesgo antes de la entrega: cubre el 47 % de las reseñas negativas.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E6CC1B3-5D14-4BC7-91F6-2F94E2B63F2D}"/>
              </a:ext>
            </a:extLst>
          </p:cNvPr>
          <p:cNvSpPr/>
          <p:nvPr/>
        </p:nvSpPr>
        <p:spPr>
          <a:xfrm>
            <a:off x="6238875" y="1666875"/>
            <a:ext cx="5286375" cy="20002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E5CDAAA-96F5-4CC7-865E-7A61A052A04D}"/>
              </a:ext>
            </a:extLst>
          </p:cNvPr>
          <p:cNvSpPr/>
          <p:nvPr/>
        </p:nvSpPr>
        <p:spPr>
          <a:xfrm>
            <a:off x="6467475" y="1895475"/>
            <a:ext cx="533400" cy="533400"/>
          </a:xfrm>
          <a:prstGeom prst="ellipse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Verdana"/>
                <a:ea typeface="Verdana"/>
              </a:rPr>
              <a:t>02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709CA1F-84D6-4F7B-8D95-0DB1290AB5E2}"/>
              </a:ext>
            </a:extLst>
          </p:cNvPr>
          <p:cNvSpPr txBox="1"/>
          <p:nvPr/>
        </p:nvSpPr>
        <p:spPr>
          <a:xfrm>
            <a:off x="6467475" y="2552700"/>
            <a:ext cx="4572000" cy="12382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B1F4B"/>
                </a:solidFill>
                <a:latin typeface="Verdana"/>
                <a:ea typeface="Verdana"/>
              </a:rPr>
              <a:t>Programa para rezagados</a:t>
            </a:r>
          </a:p>
          <a:p>
            <a:pPr algn="l">
              <a:lnSpc>
                <a:spcPct val="118000"/>
              </a:lnSpc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Acompañar a los 461 vendedores del segmento con umbrales de desempeño y capacitación: es donde el retorno marginal es mayor.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97D28CF-6286-429F-8CF8-97C28F41CBFB}"/>
              </a:ext>
            </a:extLst>
          </p:cNvPr>
          <p:cNvSpPr/>
          <p:nvPr/>
        </p:nvSpPr>
        <p:spPr>
          <a:xfrm>
            <a:off x="666750" y="3857625"/>
            <a:ext cx="5286375" cy="2000250"/>
          </a:xfrm>
          <a:prstGeom prst="roundRect">
            <a:avLst/>
          </a:prstGeom>
          <a:solidFill>
            <a:srgbClr val="EEF3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7C867ADE-165D-4FB7-9EE0-01C5C325A3D9}"/>
              </a:ext>
            </a:extLst>
          </p:cNvPr>
          <p:cNvSpPr/>
          <p:nvPr/>
        </p:nvSpPr>
        <p:spPr>
          <a:xfrm>
            <a:off x="895350" y="4086225"/>
            <a:ext cx="533400" cy="533400"/>
          </a:xfrm>
          <a:prstGeom prst="ellipse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Verdana"/>
                <a:ea typeface="Verdana"/>
              </a:rPr>
              <a:t>03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32C9C87-601F-4C9F-B13B-E74E0AA61F76}"/>
              </a:ext>
            </a:extLst>
          </p:cNvPr>
          <p:cNvSpPr txBox="1"/>
          <p:nvPr/>
        </p:nvSpPr>
        <p:spPr>
          <a:xfrm>
            <a:off x="895350" y="4743450"/>
            <a:ext cx="4572000" cy="12382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B1F4B"/>
                </a:solidFill>
                <a:latin typeface="Verdana"/>
                <a:ea typeface="Verdana"/>
              </a:rPr>
              <a:t>Foco logístico por región</a:t>
            </a:r>
          </a:p>
          <a:p>
            <a:pPr algn="l">
              <a:lnSpc>
                <a:spcPct val="118000"/>
              </a:lnSpc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Mejorar tiempos y costo de flete fuera del Sudeste: 15,9 días y R$ 25,7 contra 10,2 días y R$ 17,4.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B31B569A-7333-4DE2-81F8-F4C4A4A3C1A1}"/>
              </a:ext>
            </a:extLst>
          </p:cNvPr>
          <p:cNvSpPr/>
          <p:nvPr/>
        </p:nvSpPr>
        <p:spPr>
          <a:xfrm>
            <a:off x="6238875" y="3857625"/>
            <a:ext cx="5286375" cy="2000250"/>
          </a:xfrm>
          <a:prstGeom prst="roundRect">
            <a:avLst/>
          </a:prstGeom>
          <a:solidFill>
            <a:srgbClr val="FFF6D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198FCF05-E264-4FBF-BAFE-9F7A2099ACD4}"/>
              </a:ext>
            </a:extLst>
          </p:cNvPr>
          <p:cNvSpPr/>
          <p:nvPr/>
        </p:nvSpPr>
        <p:spPr>
          <a:xfrm>
            <a:off x="6467475" y="4086225"/>
            <a:ext cx="533400" cy="533400"/>
          </a:xfrm>
          <a:prstGeom prst="ellipse">
            <a:avLst/>
          </a:prstGeom>
          <a:solidFill>
            <a:srgbClr val="FFB800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B1F4B"/>
                </a:solidFill>
                <a:latin typeface="Verdana"/>
                <a:ea typeface="Verdana"/>
              </a:rPr>
              <a:t>04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0F4235E-3969-4DB7-871D-9470D2D04B33}"/>
              </a:ext>
            </a:extLst>
          </p:cNvPr>
          <p:cNvSpPr txBox="1"/>
          <p:nvPr/>
        </p:nvSpPr>
        <p:spPr>
          <a:xfrm>
            <a:off x="6467475" y="4743450"/>
            <a:ext cx="4572000" cy="12382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B1F4B"/>
                </a:solidFill>
                <a:latin typeface="Verdana"/>
                <a:ea typeface="Verdana"/>
              </a:rPr>
              <a:t>Estrategia por categoría</a:t>
            </a:r>
          </a:p>
          <a:p>
            <a:pPr algn="l">
              <a:lnSpc>
                <a:spcPct val="118000"/>
              </a:lnSpc>
            </a:pPr>
            <a:r>
              <a:rPr sz="1400">
                <a:solidFill>
                  <a:srgbClr val="5A6C8C"/>
                </a:solidFill>
                <a:latin typeface="Calibri"/>
                <a:ea typeface="Calibri"/>
              </a:rPr>
              <a:t>Volumen y facturación son palancas distintas: los líderes en ítems no coinciden con los de mayor revenue, así que se negocian por separado.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874F53CB-4E2D-4233-B0B9-9147BB839BB2}"/>
              </a:ext>
            </a:extLst>
          </p:cNvPr>
          <p:cNvSpPr/>
          <p:nvPr/>
        </p:nvSpPr>
        <p:spPr>
          <a:xfrm>
            <a:off x="8382000" y="666750"/>
            <a:ext cx="3048000" cy="3048000"/>
          </a:xfrm>
          <a:prstGeom prst="ellipse">
            <a:avLst/>
          </a:prstGeom>
          <a:solidFill>
            <a:srgbClr val="0A4EE4"/>
          </a:solidFill>
        </p:spPr>
        <p:txBody>
          <a:bodyPr wrap="square" rtlCol="0" lIns="0" tIns="0" rIns="0" bIns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Verdana"/>
                <a:ea typeface="Verdana"/>
              </a:rPr>
              <a:t>Olist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BAFDED3-6CA6-4ACF-B1A8-EFDC22AE9874}"/>
              </a:ext>
            </a:extLst>
          </p:cNvPr>
          <p:cNvSpPr/>
          <p:nvPr/>
        </p:nvSpPr>
        <p:spPr>
          <a:xfrm>
            <a:off x="9620250" y="4286250"/>
            <a:ext cx="1619250" cy="1619250"/>
          </a:xfrm>
          <a:prstGeom prst="ellipse">
            <a:avLst/>
          </a:prstGeom>
          <a:ln w="76200">
            <a:solidFill>
              <a:srgbClr val="FFB80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AF17F83-BB78-4D32-BF16-217A1C3B7AE1}"/>
              </a:ext>
            </a:extLst>
          </p:cNvPr>
          <p:cNvSpPr/>
          <p:nvPr/>
        </p:nvSpPr>
        <p:spPr>
          <a:xfrm>
            <a:off x="7905750" y="3810000"/>
            <a:ext cx="438150" cy="438150"/>
          </a:xfrm>
          <a:prstGeom prst="ellipse">
            <a:avLst/>
          </a:prstGeom>
          <a:solidFill>
            <a:srgbClr val="FFB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6CC18E8-A1B6-4B9D-9563-50B21ED6BE12}"/>
              </a:ext>
            </a:extLst>
          </p:cNvPr>
          <p:cNvSpPr txBox="1"/>
          <p:nvPr/>
        </p:nvSpPr>
        <p:spPr>
          <a:xfrm>
            <a:off x="857250" y="1809750"/>
            <a:ext cx="6667500" cy="1333500"/>
          </a:xfrm>
        </p:spPr>
        <p:txBody>
          <a:bodyPr wrap="square" rtlCol="0" lIns="0" tIns="0" rIns="0" bIns="0" anchor="t"/>
          <a:lstStyle/>
          <a:p>
            <a:pPr algn="l"/>
            <a:r>
              <a:rPr sz="7600" b="1">
                <a:solidFill>
                  <a:srgbClr val="FFFFFF"/>
                </a:solidFill>
                <a:latin typeface="Verdana"/>
                <a:ea typeface="Verdana"/>
              </a:rPr>
              <a:t>Gracias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12B3F9F-2630-4F09-82E3-78227FBC4E20}"/>
              </a:ext>
            </a:extLst>
          </p:cNvPr>
          <p:cNvSpPr txBox="1"/>
          <p:nvPr/>
        </p:nvSpPr>
        <p:spPr>
          <a:xfrm>
            <a:off x="857250" y="3333750"/>
            <a:ext cx="57150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FFB800"/>
                </a:solidFill>
                <a:latin typeface="Verdana"/>
                <a:ea typeface="Verdana"/>
              </a:rPr>
              <a:t>¿Preguntas?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C85CA97-96E3-47BF-8CDE-CBDCAE8C4D25}"/>
              </a:ext>
            </a:extLst>
          </p:cNvPr>
          <p:cNvSpPr txBox="1"/>
          <p:nvPr/>
        </p:nvSpPr>
        <p:spPr>
          <a:xfrm>
            <a:off x="857250" y="4476750"/>
            <a:ext cx="66675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C9D8F7"/>
                </a:solidFill>
                <a:latin typeface="Calibri"/>
                <a:ea typeface="Calibri"/>
              </a:rPr>
              <a:t>Ikemiya, Facundo  ·  Gold, Nicolás  ·  Nodar, Natalia  ·  Betzabe Mayra, Aldana Sandoval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B8FC68F-4A30-44A3-A71E-D771A6103AF8}"/>
              </a:ext>
            </a:extLst>
          </p:cNvPr>
          <p:cNvSpPr txBox="1"/>
          <p:nvPr/>
        </p:nvSpPr>
        <p:spPr>
          <a:xfrm>
            <a:off x="857250" y="5524500"/>
            <a:ext cx="72390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400" i="1">
                <a:solidFill>
                  <a:srgbClr val="5F76A8"/>
                </a:solidFill>
                <a:latin typeface="Calibri"/>
                <a:ea typeface="Calibri"/>
              </a:rPr>
              <a:t>Proyecto Integrador · Tecnicatura Superior en Ciencia de Datos e IA · Octubre 2026</a:t>
            </a:r>
          </a:p>
          <a:p>
            <a:pPr algn="l"/>
            <a:r>
              <a:rPr sz="1400" i="1">
                <a:solidFill>
                  <a:srgbClr val="5F76A8"/>
                </a:solidFill>
                <a:latin typeface="Calibri"/>
                <a:ea typeface="Calibri"/>
              </a:rPr>
              <a:t>Análisis reproducible con los notebooks 00 → 11 · dashboard interactivo en Streamlit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